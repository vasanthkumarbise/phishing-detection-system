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8" r:id="rId3"/>
    <p:sldId id="259" r:id="rId4"/>
    <p:sldId id="260" r:id="rId5"/>
    <p:sldId id="269" r:id="rId6"/>
    <p:sldId id="271" r:id="rId7"/>
    <p:sldId id="272" r:id="rId8"/>
    <p:sldId id="273" r:id="rId9"/>
    <p:sldId id="262" r:id="rId10"/>
    <p:sldId id="277" r:id="rId11"/>
    <p:sldId id="261" r:id="rId12"/>
    <p:sldId id="278" r:id="rId13"/>
    <p:sldId id="279" r:id="rId14"/>
    <p:sldId id="280" r:id="rId15"/>
    <p:sldId id="281" r:id="rId16"/>
    <p:sldId id="282" r:id="rId17"/>
    <p:sldId id="285" r:id="rId18"/>
    <p:sldId id="286" r:id="rId19"/>
    <p:sldId id="287" r:id="rId20"/>
    <p:sldId id="288" r:id="rId21"/>
    <p:sldId id="289" r:id="rId22"/>
    <p:sldId id="264" r:id="rId23"/>
    <p:sldId id="290" r:id="rId24"/>
    <p:sldId id="26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notesMaster" Target="notesMasters/notesMaster1.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A212DC-63B1-4901-BBA1-0E9BAC33D41C}" type="datetimeFigureOut">
              <a:rPr lang="en-IN" smtClean="0"/>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AF3EA8-841E-473D-8AEC-E28FC8B0AF52}" type="slidenum">
              <a:rPr lang="en-IN" smtClean="0"/>
            </a:fld>
            <a:endParaRPr lang="en-IN"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384BBED-9D3F-4E8C-A31D-76A22EE88FEB}" type="datetime1">
              <a:rPr lang="en-IN" smtClean="0"/>
            </a:fld>
            <a:endParaRPr lang="en-IN" dirty="0"/>
          </a:p>
        </p:txBody>
      </p:sp>
      <p:sp>
        <p:nvSpPr>
          <p:cNvPr id="5" name="Footer Placeholder 4"/>
          <p:cNvSpPr>
            <a:spLocks noGrp="1"/>
          </p:cNvSpPr>
          <p:nvPr>
            <p:ph type="ftr" sz="quarter" idx="11"/>
          </p:nvPr>
        </p:nvSpPr>
        <p:spPr/>
        <p:txBody>
          <a:bodyPr/>
          <a:lstStyle/>
          <a:p>
            <a:r>
              <a:rPr lang="en-IN" dirty="0"/>
              <a:t>Dept. of ______, SVIT</a:t>
            </a:r>
            <a:endParaRPr lang="en-IN" dirty="0"/>
          </a:p>
        </p:txBody>
      </p:sp>
      <p:sp>
        <p:nvSpPr>
          <p:cNvPr id="6" name="Slide Number Placeholder 5"/>
          <p:cNvSpPr>
            <a:spLocks noGrp="1"/>
          </p:cNvSpPr>
          <p:nvPr>
            <p:ph type="sldNum" sz="quarter" idx="12"/>
          </p:nvPr>
        </p:nvSpPr>
        <p:spPr/>
        <p:txBody>
          <a:bodyPr/>
          <a:lstStyle/>
          <a:p>
            <a:fld id="{249020A1-FA28-4834-83A8-C0CE35CB1668}" type="slidenum">
              <a:rPr lang="en-IN" smtClean="0"/>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F575E127-F269-4258-80A4-1372D3C00E8F}" type="datetime1">
              <a:rPr lang="en-IN" smtClean="0"/>
            </a:fld>
            <a:endParaRPr lang="en-IN" dirty="0"/>
          </a:p>
        </p:txBody>
      </p:sp>
      <p:sp>
        <p:nvSpPr>
          <p:cNvPr id="5" name="Footer Placeholder 4"/>
          <p:cNvSpPr>
            <a:spLocks noGrp="1"/>
          </p:cNvSpPr>
          <p:nvPr>
            <p:ph type="ftr" sz="quarter" idx="11"/>
          </p:nvPr>
        </p:nvSpPr>
        <p:spPr/>
        <p:txBody>
          <a:bodyPr/>
          <a:lstStyle/>
          <a:p>
            <a:r>
              <a:rPr lang="en-IN" dirty="0"/>
              <a:t>Dept. of ______, SVIT</a:t>
            </a:r>
            <a:endParaRPr lang="en-IN" dirty="0"/>
          </a:p>
        </p:txBody>
      </p:sp>
      <p:sp>
        <p:nvSpPr>
          <p:cNvPr id="6" name="Slide Number Placeholder 5"/>
          <p:cNvSpPr>
            <a:spLocks noGrp="1"/>
          </p:cNvSpPr>
          <p:nvPr>
            <p:ph type="sldNum" sz="quarter" idx="12"/>
          </p:nvPr>
        </p:nvSpPr>
        <p:spPr/>
        <p:txBody>
          <a:bodyPr/>
          <a:lstStyle/>
          <a:p>
            <a:fld id="{249020A1-FA28-4834-83A8-C0CE35CB1668}" type="slidenum">
              <a:rPr lang="en-IN" smtClean="0"/>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156EAF1-28FB-47DB-A52B-7DD7F4094843}" type="datetime1">
              <a:rPr lang="en-IN" smtClean="0"/>
            </a:fld>
            <a:endParaRPr lang="en-IN" dirty="0"/>
          </a:p>
        </p:txBody>
      </p:sp>
      <p:sp>
        <p:nvSpPr>
          <p:cNvPr id="5" name="Footer Placeholder 4"/>
          <p:cNvSpPr>
            <a:spLocks noGrp="1"/>
          </p:cNvSpPr>
          <p:nvPr>
            <p:ph type="ftr" sz="quarter" idx="11"/>
          </p:nvPr>
        </p:nvSpPr>
        <p:spPr/>
        <p:txBody>
          <a:bodyPr/>
          <a:lstStyle/>
          <a:p>
            <a:r>
              <a:rPr lang="en-IN" dirty="0"/>
              <a:t>Dept. of ______, SVIT</a:t>
            </a:r>
            <a:endParaRPr lang="en-IN" dirty="0"/>
          </a:p>
        </p:txBody>
      </p:sp>
      <p:sp>
        <p:nvSpPr>
          <p:cNvPr id="6" name="Slide Number Placeholder 5"/>
          <p:cNvSpPr>
            <a:spLocks noGrp="1"/>
          </p:cNvSpPr>
          <p:nvPr>
            <p:ph type="sldNum" sz="quarter" idx="12"/>
          </p:nvPr>
        </p:nvSpPr>
        <p:spPr/>
        <p:txBody>
          <a:bodyPr/>
          <a:lstStyle/>
          <a:p>
            <a:fld id="{249020A1-FA28-4834-83A8-C0CE35CB1668}" type="slidenum">
              <a:rPr lang="en-IN" smtClean="0"/>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61712493-AA25-487D-8635-16C3A88B4A31}" type="datetime1">
              <a:rPr lang="en-IN" smtClean="0"/>
            </a:fld>
            <a:endParaRPr lang="en-IN" dirty="0"/>
          </a:p>
        </p:txBody>
      </p:sp>
      <p:sp>
        <p:nvSpPr>
          <p:cNvPr id="6" name="Footer Placeholder 5"/>
          <p:cNvSpPr>
            <a:spLocks noGrp="1"/>
          </p:cNvSpPr>
          <p:nvPr>
            <p:ph type="ftr" sz="quarter" idx="11"/>
          </p:nvPr>
        </p:nvSpPr>
        <p:spPr/>
        <p:txBody>
          <a:bodyPr/>
          <a:lstStyle/>
          <a:p>
            <a:r>
              <a:rPr lang="en-IN" dirty="0"/>
              <a:t>Dept. of ______, SVIT</a:t>
            </a:r>
            <a:endParaRPr lang="en-IN" dirty="0"/>
          </a:p>
        </p:txBody>
      </p:sp>
      <p:sp>
        <p:nvSpPr>
          <p:cNvPr id="7" name="Slide Number Placeholder 6"/>
          <p:cNvSpPr>
            <a:spLocks noGrp="1"/>
          </p:cNvSpPr>
          <p:nvPr>
            <p:ph type="sldNum" sz="quarter" idx="12"/>
          </p:nvPr>
        </p:nvSpPr>
        <p:spPr/>
        <p:txBody>
          <a:bodyPr/>
          <a:lstStyle/>
          <a:p>
            <a:fld id="{249020A1-FA28-4834-83A8-C0CE35CB1668}" type="slidenum">
              <a:rPr lang="en-IN" smtClean="0"/>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3D15DECB-9A6B-47E9-8A6F-D77F03DD63AE}" type="datetime1">
              <a:rPr lang="en-IN" smtClean="0"/>
            </a:fld>
            <a:endParaRPr lang="en-IN" dirty="0"/>
          </a:p>
        </p:txBody>
      </p:sp>
      <p:sp>
        <p:nvSpPr>
          <p:cNvPr id="8" name="Footer Placeholder 7"/>
          <p:cNvSpPr>
            <a:spLocks noGrp="1"/>
          </p:cNvSpPr>
          <p:nvPr>
            <p:ph type="ftr" sz="quarter" idx="11"/>
          </p:nvPr>
        </p:nvSpPr>
        <p:spPr/>
        <p:txBody>
          <a:bodyPr/>
          <a:lstStyle/>
          <a:p>
            <a:r>
              <a:rPr lang="en-IN" dirty="0"/>
              <a:t>Dept. of ______, SVIT</a:t>
            </a:r>
            <a:endParaRPr lang="en-IN" dirty="0"/>
          </a:p>
        </p:txBody>
      </p:sp>
      <p:sp>
        <p:nvSpPr>
          <p:cNvPr id="9" name="Slide Number Placeholder 8"/>
          <p:cNvSpPr>
            <a:spLocks noGrp="1"/>
          </p:cNvSpPr>
          <p:nvPr>
            <p:ph type="sldNum" sz="quarter" idx="12"/>
          </p:nvPr>
        </p:nvSpPr>
        <p:spPr/>
        <p:txBody>
          <a:bodyPr/>
          <a:lstStyle/>
          <a:p>
            <a:fld id="{249020A1-FA28-4834-83A8-C0CE35CB1668}" type="slidenum">
              <a:rPr lang="en-IN" smtClean="0"/>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24B391F4-8B9E-488E-9E09-6D97621EC7E8}" type="datetime1">
              <a:rPr lang="en-IN" smtClean="0"/>
            </a:fld>
            <a:endParaRPr lang="en-IN" dirty="0"/>
          </a:p>
        </p:txBody>
      </p:sp>
      <p:sp>
        <p:nvSpPr>
          <p:cNvPr id="4" name="Footer Placeholder 3"/>
          <p:cNvSpPr>
            <a:spLocks noGrp="1"/>
          </p:cNvSpPr>
          <p:nvPr>
            <p:ph type="ftr" sz="quarter" idx="11"/>
          </p:nvPr>
        </p:nvSpPr>
        <p:spPr/>
        <p:txBody>
          <a:bodyPr/>
          <a:lstStyle/>
          <a:p>
            <a:r>
              <a:rPr lang="en-IN" dirty="0"/>
              <a:t>Dept. of ______, SVIT</a:t>
            </a:r>
            <a:endParaRPr lang="en-IN" dirty="0"/>
          </a:p>
        </p:txBody>
      </p:sp>
      <p:sp>
        <p:nvSpPr>
          <p:cNvPr id="5" name="Slide Number Placeholder 4"/>
          <p:cNvSpPr>
            <a:spLocks noGrp="1"/>
          </p:cNvSpPr>
          <p:nvPr>
            <p:ph type="sldNum" sz="quarter" idx="12"/>
          </p:nvPr>
        </p:nvSpPr>
        <p:spPr/>
        <p:txBody>
          <a:bodyPr/>
          <a:lstStyle/>
          <a:p>
            <a:fld id="{249020A1-FA28-4834-83A8-C0CE35CB1668}" type="slidenum">
              <a:rPr lang="en-IN" smtClean="0"/>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B56ECC-4156-47B9-B6C5-A7C7632DDAB1}" type="datetime1">
              <a:rPr lang="en-IN" smtClean="0"/>
            </a:fld>
            <a:endParaRPr lang="en-IN" dirty="0"/>
          </a:p>
        </p:txBody>
      </p:sp>
      <p:sp>
        <p:nvSpPr>
          <p:cNvPr id="3" name="Footer Placeholder 2"/>
          <p:cNvSpPr>
            <a:spLocks noGrp="1"/>
          </p:cNvSpPr>
          <p:nvPr>
            <p:ph type="ftr" sz="quarter" idx="11"/>
          </p:nvPr>
        </p:nvSpPr>
        <p:spPr/>
        <p:txBody>
          <a:bodyPr/>
          <a:lstStyle/>
          <a:p>
            <a:r>
              <a:rPr lang="en-IN" dirty="0"/>
              <a:t>Dept. of ______, SVIT</a:t>
            </a:r>
            <a:endParaRPr lang="en-IN" dirty="0"/>
          </a:p>
        </p:txBody>
      </p:sp>
      <p:sp>
        <p:nvSpPr>
          <p:cNvPr id="4" name="Slide Number Placeholder 3"/>
          <p:cNvSpPr>
            <a:spLocks noGrp="1"/>
          </p:cNvSpPr>
          <p:nvPr>
            <p:ph type="sldNum" sz="quarter" idx="12"/>
          </p:nvPr>
        </p:nvSpPr>
        <p:spPr/>
        <p:txBody>
          <a:bodyPr/>
          <a:lstStyle/>
          <a:p>
            <a:fld id="{249020A1-FA28-4834-83A8-C0CE35CB1668}" type="slidenum">
              <a:rPr lang="en-IN" smtClean="0"/>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B3CA7FB-8CAD-4526-8C8B-7EC5B1C9A4A6}" type="datetime1">
              <a:rPr lang="en-IN" smtClean="0"/>
            </a:fld>
            <a:endParaRPr lang="en-IN" dirty="0"/>
          </a:p>
        </p:txBody>
      </p:sp>
      <p:sp>
        <p:nvSpPr>
          <p:cNvPr id="6" name="Footer Placeholder 5"/>
          <p:cNvSpPr>
            <a:spLocks noGrp="1"/>
          </p:cNvSpPr>
          <p:nvPr>
            <p:ph type="ftr" sz="quarter" idx="11"/>
          </p:nvPr>
        </p:nvSpPr>
        <p:spPr/>
        <p:txBody>
          <a:bodyPr/>
          <a:lstStyle/>
          <a:p>
            <a:r>
              <a:rPr lang="en-IN" dirty="0"/>
              <a:t>Dept. of ______, SVIT</a:t>
            </a:r>
            <a:endParaRPr lang="en-IN" dirty="0"/>
          </a:p>
        </p:txBody>
      </p:sp>
      <p:sp>
        <p:nvSpPr>
          <p:cNvPr id="7" name="Slide Number Placeholder 6"/>
          <p:cNvSpPr>
            <a:spLocks noGrp="1"/>
          </p:cNvSpPr>
          <p:nvPr>
            <p:ph type="sldNum" sz="quarter" idx="12"/>
          </p:nvPr>
        </p:nvSpPr>
        <p:spPr/>
        <p:txBody>
          <a:bodyPr/>
          <a:lstStyle/>
          <a:p>
            <a:fld id="{249020A1-FA28-4834-83A8-C0CE35CB1668}" type="slidenum">
              <a:rPr lang="en-IN" smtClean="0"/>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lang="en-IN"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3532C8DB-8A26-4D7B-863F-CF0724AEE9FE}" type="datetime1">
              <a:rPr lang="en-IN" smtClean="0"/>
            </a:fld>
            <a:endParaRPr lang="en-IN" dirty="0"/>
          </a:p>
        </p:txBody>
      </p:sp>
      <p:sp>
        <p:nvSpPr>
          <p:cNvPr id="6" name="Footer Placeholder 5"/>
          <p:cNvSpPr>
            <a:spLocks noGrp="1"/>
          </p:cNvSpPr>
          <p:nvPr>
            <p:ph type="ftr" sz="quarter" idx="11"/>
          </p:nvPr>
        </p:nvSpPr>
        <p:spPr/>
        <p:txBody>
          <a:bodyPr/>
          <a:lstStyle/>
          <a:p>
            <a:r>
              <a:rPr lang="en-IN" dirty="0"/>
              <a:t>Dept. of ______, SVIT</a:t>
            </a:r>
            <a:endParaRPr lang="en-IN" dirty="0"/>
          </a:p>
        </p:txBody>
      </p:sp>
      <p:sp>
        <p:nvSpPr>
          <p:cNvPr id="7" name="Slide Number Placeholder 6"/>
          <p:cNvSpPr>
            <a:spLocks noGrp="1"/>
          </p:cNvSpPr>
          <p:nvPr>
            <p:ph type="sldNum" sz="quarter" idx="12"/>
          </p:nvPr>
        </p:nvSpPr>
        <p:spPr/>
        <p:txBody>
          <a:bodyPr/>
          <a:lstStyle/>
          <a:p>
            <a:fld id="{249020A1-FA28-4834-83A8-C0CE35CB1668}" type="slidenum">
              <a:rPr lang="en-IN" smtClean="0"/>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24AEDF3A-537D-4782-93FF-26FDB1360200}" type="datetime1">
              <a:rPr lang="en-IN" smtClean="0"/>
            </a:fld>
            <a:endParaRPr lang="en-IN" dirty="0"/>
          </a:p>
        </p:txBody>
      </p:sp>
      <p:sp>
        <p:nvSpPr>
          <p:cNvPr id="5" name="Footer Placeholder 4"/>
          <p:cNvSpPr>
            <a:spLocks noGrp="1"/>
          </p:cNvSpPr>
          <p:nvPr>
            <p:ph type="ftr" sz="quarter" idx="11"/>
          </p:nvPr>
        </p:nvSpPr>
        <p:spPr/>
        <p:txBody>
          <a:bodyPr/>
          <a:lstStyle/>
          <a:p>
            <a:r>
              <a:rPr lang="en-IN" dirty="0"/>
              <a:t>Dept. of ______, SVIT</a:t>
            </a:r>
            <a:endParaRPr lang="en-IN" dirty="0"/>
          </a:p>
        </p:txBody>
      </p:sp>
      <p:sp>
        <p:nvSpPr>
          <p:cNvPr id="6" name="Slide Number Placeholder 5"/>
          <p:cNvSpPr>
            <a:spLocks noGrp="1"/>
          </p:cNvSpPr>
          <p:nvPr>
            <p:ph type="sldNum" sz="quarter" idx="12"/>
          </p:nvPr>
        </p:nvSpPr>
        <p:spPr/>
        <p:txBody>
          <a:bodyPr/>
          <a:lstStyle/>
          <a:p>
            <a:fld id="{249020A1-FA28-4834-83A8-C0CE35CB1668}" type="slidenum">
              <a:rPr lang="en-IN" smtClean="0"/>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8673CAB0-2917-41E3-BC62-F04238BDCF53}" type="datetime1">
              <a:rPr lang="en-IN" smtClean="0"/>
            </a:fld>
            <a:endParaRPr lang="en-IN" dirty="0"/>
          </a:p>
        </p:txBody>
      </p:sp>
      <p:sp>
        <p:nvSpPr>
          <p:cNvPr id="5" name="Footer Placeholder 4"/>
          <p:cNvSpPr>
            <a:spLocks noGrp="1"/>
          </p:cNvSpPr>
          <p:nvPr>
            <p:ph type="ftr" sz="quarter" idx="11"/>
          </p:nvPr>
        </p:nvSpPr>
        <p:spPr/>
        <p:txBody>
          <a:bodyPr/>
          <a:lstStyle/>
          <a:p>
            <a:r>
              <a:rPr lang="en-IN" dirty="0"/>
              <a:t>Dept. of ______, SVIT</a:t>
            </a:r>
            <a:endParaRPr lang="en-IN" dirty="0"/>
          </a:p>
        </p:txBody>
      </p:sp>
      <p:sp>
        <p:nvSpPr>
          <p:cNvPr id="6" name="Slide Number Placeholder 5"/>
          <p:cNvSpPr>
            <a:spLocks noGrp="1"/>
          </p:cNvSpPr>
          <p:nvPr>
            <p:ph type="sldNum" sz="quarter" idx="12"/>
          </p:nvPr>
        </p:nvSpPr>
        <p:spPr/>
        <p:txBody>
          <a:bodyPr/>
          <a:lstStyle/>
          <a:p>
            <a:fld id="{249020A1-FA28-4834-83A8-C0CE35CB1668}" type="slidenum">
              <a:rPr lang="en-IN" smtClean="0"/>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49D414-CE7D-46FB-9603-64E2DC9BB488}" type="datetime1">
              <a:rPr lang="en-IN" smtClean="0"/>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t>Dept. of ______, SVIT</a:t>
            </a:r>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9020A1-FA28-4834-83A8-C0CE35CB1668}" type="slidenum">
              <a:rPr lang="en-IN" smtClean="0"/>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0" y="0"/>
            <a:ext cx="12191365" cy="881380"/>
          </a:xfrm>
          <a:prstGeom prst="rect">
            <a:avLst/>
          </a:prstGeom>
          <a:solidFill>
            <a:srgbClr val="002060"/>
          </a:solidFill>
        </p:spPr>
        <p:txBody>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rPr>
              <a:t>Introduction</a:t>
            </a:r>
            <a:endPar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endParaRPr>
          </a:p>
        </p:txBody>
      </p:sp>
      <p:sp>
        <p:nvSpPr>
          <p:cNvPr id="4" name="TextBox 3"/>
          <p:cNvSpPr txBox="1"/>
          <p:nvPr/>
        </p:nvSpPr>
        <p:spPr>
          <a:xfrm>
            <a:off x="0" y="6538912"/>
            <a:ext cx="12192000" cy="368300"/>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fld id="{A779D412-7551-4DA0-A19D-519BB8214474}" type="slidenum">
              <a:rPr lang="en-IN" smtClean="0">
                <a:ln>
                  <a:solidFill>
                    <a:schemeClr val="bg1"/>
                  </a:solidFill>
                </a:ln>
                <a:solidFill>
                  <a:schemeClr val="bg1"/>
                </a:solidFill>
              </a:rPr>
            </a:fld>
            <a:endParaRPr lang="en-IN" dirty="0">
              <a:ln>
                <a:solidFill>
                  <a:schemeClr val="bg1"/>
                </a:solidFill>
              </a:ln>
              <a:solidFill>
                <a:schemeClr val="bg1"/>
              </a:solidFill>
            </a:endParaRPr>
          </a:p>
        </p:txBody>
      </p:sp>
      <p:sp>
        <p:nvSpPr>
          <p:cNvPr id="6" name="TextBox 5"/>
          <p:cNvSpPr txBox="1"/>
          <p:nvPr/>
        </p:nvSpPr>
        <p:spPr>
          <a:xfrm>
            <a:off x="164841" y="1111120"/>
            <a:ext cx="5856053" cy="5016758"/>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Phishing is an example of a cyber-attack in which an attacker attempts to obtain sensitive information or data such as usernames, passwords, credit card numbers, bank account numbers or other vital financial details of a person by posing to be a trustworthy entity or a legitimate source. </a:t>
            </a:r>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Associative classification is a machine learning approach that aims to build accurate, efficient and compact classification models by combining paradigms for classification.</a:t>
            </a:r>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1"/>
          <a:srcRect/>
          <a:stretch>
            <a:fillRect/>
          </a:stretch>
        </p:blipFill>
        <p:spPr bwMode="auto">
          <a:xfrm>
            <a:off x="6270171" y="1297170"/>
            <a:ext cx="5756988" cy="4621621"/>
          </a:xfrm>
          <a:prstGeom prst="rect">
            <a:avLst/>
          </a:prstGeom>
          <a:noFill/>
          <a:ln w="9525">
            <a:noFill/>
            <a:miter lim="800000"/>
            <a:headEnd/>
            <a:tailEnd/>
          </a:ln>
          <a:effectLst/>
        </p:spPr>
      </p:pic>
      <p:sp>
        <p:nvSpPr>
          <p:cNvPr id="7" name="TextBox 6"/>
          <p:cNvSpPr txBox="1"/>
          <p:nvPr/>
        </p:nvSpPr>
        <p:spPr>
          <a:xfrm>
            <a:off x="8059003" y="5902657"/>
            <a:ext cx="2217761"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Phishing mechanism</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0" y="0"/>
            <a:ext cx="12192000" cy="835025"/>
          </a:xfrm>
          <a:prstGeom prst="rect">
            <a:avLst/>
          </a:prstGeom>
          <a:solidFill>
            <a:srgbClr val="002060"/>
          </a:solidFill>
        </p:spPr>
        <p:txBody>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rPr>
              <a:t>Problem Statement</a:t>
            </a:r>
            <a:endPar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endParaRPr>
          </a:p>
        </p:txBody>
      </p:sp>
      <p:sp>
        <p:nvSpPr>
          <p:cNvPr id="3" name="TextBox 2"/>
          <p:cNvSpPr txBox="1"/>
          <p:nvPr/>
        </p:nvSpPr>
        <p:spPr>
          <a:xfrm>
            <a:off x="335484" y="1908041"/>
            <a:ext cx="10890913" cy="2554545"/>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Phishing attacks in e-banking pose serious security threats by deceiving users into revealing sensitive information. Traditional detection methods struggle with evolving phishing tactics, making accurate identification challenging. Associative classification can help by discovering hidden patterns and relationships in phishing data. This study aims to develop an efficient model using associative classification to enhance phishing detection. The goal is to improve accuracy, reduce false positives, and strengthen e-banking security.</a:t>
            </a:r>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0" y="6538912"/>
            <a:ext cx="12192000" cy="368300"/>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fld id="{A779D412-7551-4DA0-A19D-519BB8214474}" type="slidenum">
              <a:rPr lang="en-IN" smtClean="0">
                <a:ln>
                  <a:solidFill>
                    <a:schemeClr val="bg1"/>
                  </a:solidFill>
                </a:ln>
                <a:solidFill>
                  <a:schemeClr val="bg1"/>
                </a:solidFill>
              </a:rPr>
            </a:fld>
            <a:endParaRPr lang="en-IN" dirty="0">
              <a:ln>
                <a:solidFill>
                  <a:schemeClr val="bg1"/>
                </a:solidFill>
              </a:ln>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6545736"/>
            <a:ext cx="12192000" cy="368300"/>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fld id="{A779D412-7551-4DA0-A19D-519BB8214474}" type="slidenum">
              <a:rPr lang="en-IN" smtClean="0">
                <a:ln>
                  <a:solidFill>
                    <a:schemeClr val="bg1"/>
                  </a:solidFill>
                </a:ln>
                <a:solidFill>
                  <a:schemeClr val="bg1"/>
                </a:solidFill>
              </a:rPr>
            </a:fld>
            <a:endParaRPr lang="en-IN" dirty="0">
              <a:ln>
                <a:solidFill>
                  <a:schemeClr val="bg1"/>
                </a:solidFill>
              </a:ln>
              <a:solidFill>
                <a:schemeClr val="bg1"/>
              </a:solidFill>
            </a:endParaRPr>
          </a:p>
        </p:txBody>
      </p:sp>
      <p:sp>
        <p:nvSpPr>
          <p:cNvPr id="9" name="Title 1"/>
          <p:cNvSpPr>
            <a:spLocks noGrp="1"/>
          </p:cNvSpPr>
          <p:nvPr/>
        </p:nvSpPr>
        <p:spPr>
          <a:xfrm>
            <a:off x="0" y="0"/>
            <a:ext cx="12191365" cy="943610"/>
          </a:xfrm>
          <a:prstGeom prst="rect">
            <a:avLst/>
          </a:prstGeom>
          <a:solidFill>
            <a:srgbClr val="00206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n>
                  <a:solidFill>
                    <a:schemeClr val="bg1"/>
                  </a:solidFill>
                </a:ln>
                <a:solidFill>
                  <a:schemeClr val="bg1"/>
                </a:solidFill>
              </a:rPr>
              <a:t>Literature Review</a:t>
            </a:r>
            <a:endParaRPr lang="en-IN" b="1" dirty="0">
              <a:ln>
                <a:solidFill>
                  <a:schemeClr val="bg1"/>
                </a:solidFill>
              </a:ln>
              <a:solidFill>
                <a:schemeClr val="bg1"/>
              </a:solidFill>
            </a:endParaRPr>
          </a:p>
        </p:txBody>
      </p:sp>
      <p:graphicFrame>
        <p:nvGraphicFramePr>
          <p:cNvPr id="13" name="Content Placeholder 12"/>
          <p:cNvGraphicFramePr>
            <a:graphicFrameLocks noGrp="1"/>
          </p:cNvGraphicFramePr>
          <p:nvPr>
            <p:ph idx="1"/>
          </p:nvPr>
        </p:nvGraphicFramePr>
        <p:xfrm>
          <a:off x="0" y="943780"/>
          <a:ext cx="12191998" cy="5601956"/>
        </p:xfrm>
        <a:graphic>
          <a:graphicData uri="http://schemas.openxmlformats.org/drawingml/2006/table">
            <a:tbl>
              <a:tblPr firstRow="1" bandRow="1">
                <a:tableStyleId>{5C22544A-7EE6-4342-B048-85BDC9FD1C3A}</a:tableStyleId>
              </a:tblPr>
              <a:tblGrid>
                <a:gridCol w="799159"/>
                <a:gridCol w="2223469"/>
                <a:gridCol w="1479936"/>
                <a:gridCol w="1978396"/>
                <a:gridCol w="2541413"/>
                <a:gridCol w="3169625"/>
              </a:tblGrid>
              <a:tr h="531471">
                <a:tc>
                  <a:txBody>
                    <a:bodyPr/>
                    <a:lstStyle/>
                    <a:p>
                      <a:r>
                        <a:rPr lang="en-IN" sz="1400" dirty="0">
                          <a:latin typeface="Times New Roman" panose="02020603050405020304" pitchFamily="18" charset="0"/>
                          <a:cs typeface="Times New Roman" panose="02020603050405020304" pitchFamily="18" charset="0"/>
                        </a:rPr>
                        <a:t>Sl.no</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Title</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Year Published</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Author</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Methodology</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Limitations</a:t>
                      </a:r>
                      <a:endParaRPr lang="en-IN" sz="1400" dirty="0">
                        <a:latin typeface="Times New Roman" panose="02020603050405020304" pitchFamily="18" charset="0"/>
                        <a:cs typeface="Times New Roman" panose="02020603050405020304" pitchFamily="18" charset="0"/>
                      </a:endParaRPr>
                    </a:p>
                  </a:txBody>
                  <a:tcPr/>
                </a:tc>
              </a:tr>
              <a:tr h="1426578">
                <a:tc>
                  <a:txBody>
                    <a:bodyPr/>
                    <a:lstStyle/>
                    <a:p>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1</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Staying Ahead of Phishers: A Review of Recent Advances and Emerging Methodologies in Phishing Detection</a:t>
                      </a:r>
                      <a:endParaRPr lang="en-IN" sz="1400" dirty="0">
                        <a:latin typeface="Times New Roman" panose="02020603050405020304" pitchFamily="18" charset="0"/>
                        <a:cs typeface="Times New Roman" panose="02020603050405020304" pitchFamily="18" charset="0"/>
                      </a:endParaRPr>
                    </a:p>
                  </a:txBody>
                  <a:tcPr/>
                </a:tc>
                <a:tc>
                  <a:txBody>
                    <a:bodyPr/>
                    <a:lstStyle/>
                    <a:p>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2025</a:t>
                      </a:r>
                      <a:endParaRPr lang="en-IN" sz="1400" dirty="0">
                        <a:latin typeface="Times New Roman" panose="02020603050405020304" pitchFamily="18" charset="0"/>
                        <a:cs typeface="Times New Roman" panose="02020603050405020304" pitchFamily="18" charset="0"/>
                      </a:endParaRPr>
                    </a:p>
                  </a:txBody>
                  <a:tcPr/>
                </a:tc>
                <a:tc>
                  <a:txBody>
                    <a:bodyPr/>
                    <a:lstStyle/>
                    <a:p>
                      <a:endParaRPr lang="en-IN" sz="1400" dirty="0">
                        <a:latin typeface="Times New Roman" panose="02020603050405020304" pitchFamily="18" charset="0"/>
                        <a:cs typeface="Times New Roman" panose="02020603050405020304" pitchFamily="18" charset="0"/>
                      </a:endParaRPr>
                    </a:p>
                    <a:p>
                      <a:r>
                        <a:rPr lang="en-IN" sz="1400" dirty="0" err="1">
                          <a:latin typeface="Times New Roman" panose="02020603050405020304" pitchFamily="18" charset="0"/>
                          <a:cs typeface="Times New Roman" panose="02020603050405020304" pitchFamily="18" charset="0"/>
                        </a:rPr>
                        <a:t>D.Sumathi</a:t>
                      </a:r>
                      <a:r>
                        <a:rPr lang="en-IN" sz="1400" dirty="0">
                          <a:latin typeface="Times New Roman" panose="02020603050405020304" pitchFamily="18" charset="0"/>
                          <a:cs typeface="Times New Roman" panose="02020603050405020304" pitchFamily="18" charset="0"/>
                        </a:rPr>
                        <a:t> &amp; </a:t>
                      </a:r>
                      <a:r>
                        <a:rPr lang="en-IN" sz="1400" dirty="0" err="1">
                          <a:latin typeface="Times New Roman" panose="02020603050405020304" pitchFamily="18" charset="0"/>
                          <a:cs typeface="Times New Roman" panose="02020603050405020304" pitchFamily="18" charset="0"/>
                        </a:rPr>
                        <a:t>S.Kavya</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List-Based Detection</a:t>
                      </a:r>
                      <a:endParaRPr lang="en-IN" sz="1400" dirty="0">
                        <a:latin typeface="Times New Roman" panose="02020603050405020304" pitchFamily="18" charset="0"/>
                        <a:cs typeface="Times New Roman" panose="02020603050405020304" pitchFamily="18" charset="0"/>
                      </a:endParaRPr>
                    </a:p>
                  </a:txBody>
                  <a:tcPr/>
                </a:tc>
                <a:tc>
                  <a:txBody>
                    <a:bodyPr/>
                    <a:lstStyle/>
                    <a:p>
                      <a:pPr marL="0" indent="0">
                        <a:buFontTx/>
                        <a:buNone/>
                      </a:pPr>
                      <a:r>
                        <a:rPr lang="en-US" sz="1400" dirty="0">
                          <a:latin typeface="Times New Roman" panose="02020603050405020304" pitchFamily="18" charset="0"/>
                          <a:cs typeface="Times New Roman" panose="02020603050405020304" pitchFamily="18" charset="0"/>
                        </a:rPr>
                        <a:t>Ineffective against new or unknown phishing sites.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Requires continuous updates to remain effective.</a:t>
                      </a:r>
                      <a:endParaRPr lang="en-IN" sz="1400" dirty="0">
                        <a:latin typeface="Times New Roman" panose="02020603050405020304" pitchFamily="18" charset="0"/>
                        <a:cs typeface="Times New Roman" panose="02020603050405020304" pitchFamily="18" charset="0"/>
                      </a:endParaRPr>
                    </a:p>
                  </a:txBody>
                  <a:tcPr/>
                </a:tc>
              </a:tr>
              <a:tr h="1426578">
                <a:tc>
                  <a:txBody>
                    <a:bodyPr/>
                    <a:lstStyle/>
                    <a:p>
                      <a:endParaRPr lang="en-IN"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2</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A Comprehensive Survey of AI-Enabled Phishing Attacks Detection and Categorization Techniques</a:t>
                      </a:r>
                      <a:endParaRPr lang="en-IN" sz="1400" dirty="0">
                        <a:latin typeface="Times New Roman" panose="02020603050405020304" pitchFamily="18" charset="0"/>
                        <a:cs typeface="Times New Roman" panose="02020603050405020304" pitchFamily="18" charset="0"/>
                      </a:endParaRPr>
                    </a:p>
                  </a:txBody>
                  <a:tcPr/>
                </a:tc>
                <a:tc>
                  <a:txBody>
                    <a:bodyPr/>
                    <a:lstStyle/>
                    <a:p>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2021</a:t>
                      </a:r>
                      <a:endParaRPr lang="en-IN" sz="1400" dirty="0">
                        <a:latin typeface="Times New Roman" panose="02020603050405020304" pitchFamily="18" charset="0"/>
                        <a:cs typeface="Times New Roman" panose="02020603050405020304" pitchFamily="18" charset="0"/>
                      </a:endParaRPr>
                    </a:p>
                  </a:txBody>
                  <a:tcPr/>
                </a:tc>
                <a:tc>
                  <a:txBody>
                    <a:bodyPr/>
                    <a:lstStyle/>
                    <a:p>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Aasif  </a:t>
                      </a:r>
                      <a:r>
                        <a:rPr lang="en-IN" sz="1400" dirty="0" err="1">
                          <a:latin typeface="Times New Roman" panose="02020603050405020304" pitchFamily="18" charset="0"/>
                          <a:cs typeface="Times New Roman" panose="02020603050405020304" pitchFamily="18" charset="0"/>
                        </a:rPr>
                        <a:t>Newaz</a:t>
                      </a:r>
                      <a:r>
                        <a:rPr lang="en-IN" sz="1400" dirty="0">
                          <a:latin typeface="Times New Roman" panose="02020603050405020304" pitchFamily="18" charset="0"/>
                          <a:cs typeface="Times New Roman" panose="02020603050405020304" pitchFamily="18" charset="0"/>
                        </a:rPr>
                        <a:t> &amp; Farhan Shahriyar Haq</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Machine Learning Techniques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 Requires large labeled datasets for training.</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Vulnerable to adversarial attacks where phishers modify features to evade detection.</a:t>
                      </a:r>
                      <a:endParaRPr lang="en-IN" sz="1400" dirty="0">
                        <a:latin typeface="Times New Roman" panose="02020603050405020304" pitchFamily="18" charset="0"/>
                        <a:cs typeface="Times New Roman" panose="02020603050405020304" pitchFamily="18" charset="0"/>
                      </a:endParaRPr>
                    </a:p>
                  </a:txBody>
                  <a:tcPr/>
                </a:tc>
              </a:tr>
              <a:tr h="1221138">
                <a:tc>
                  <a:txBody>
                    <a:bodyPr/>
                    <a:lstStyle/>
                    <a:p>
                      <a:endParaRPr lang="en-IN"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3</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A Systematic Review of Deep Learning Techniques for Phishing Detection</a:t>
                      </a:r>
                      <a:endParaRPr lang="en-IN" sz="1400" dirty="0">
                        <a:latin typeface="Times New Roman" panose="02020603050405020304" pitchFamily="18" charset="0"/>
                        <a:cs typeface="Times New Roman" panose="02020603050405020304" pitchFamily="18" charset="0"/>
                      </a:endParaRPr>
                    </a:p>
                  </a:txBody>
                  <a:tcPr/>
                </a:tc>
                <a:tc>
                  <a:txBody>
                    <a:bodyPr/>
                    <a:lstStyle/>
                    <a:p>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2023</a:t>
                      </a:r>
                      <a:endParaRPr lang="en-IN" sz="1400" dirty="0">
                        <a:latin typeface="Times New Roman" panose="02020603050405020304" pitchFamily="18" charset="0"/>
                        <a:cs typeface="Times New Roman" panose="02020603050405020304" pitchFamily="18" charset="0"/>
                      </a:endParaRPr>
                    </a:p>
                  </a:txBody>
                  <a:tcPr/>
                </a:tc>
                <a:tc>
                  <a:txBody>
                    <a:bodyPr/>
                    <a:lstStyle/>
                    <a:p>
                      <a:endParaRPr lang="en-IN" sz="1400" dirty="0">
                        <a:latin typeface="Times New Roman" panose="02020603050405020304" pitchFamily="18" charset="0"/>
                        <a:cs typeface="Times New Roman" panose="02020603050405020304" pitchFamily="18" charset="0"/>
                      </a:endParaRPr>
                    </a:p>
                    <a:p>
                      <a:r>
                        <a:rPr lang="en-IN" sz="1400" dirty="0" err="1">
                          <a:latin typeface="Times New Roman" panose="02020603050405020304" pitchFamily="18" charset="0"/>
                          <a:cs typeface="Times New Roman" panose="02020603050405020304" pitchFamily="18" charset="0"/>
                        </a:rPr>
                        <a:t>Kutub</a:t>
                      </a:r>
                      <a:r>
                        <a:rPr lang="en-IN" sz="1400" dirty="0">
                          <a:latin typeface="Times New Roman" panose="02020603050405020304" pitchFamily="18" charset="0"/>
                          <a:cs typeface="Times New Roman" panose="02020603050405020304" pitchFamily="18" charset="0"/>
                        </a:rPr>
                        <a:t> Thakur &amp; Md </a:t>
                      </a:r>
                      <a:r>
                        <a:rPr lang="en-IN" sz="1400" dirty="0" err="1">
                          <a:latin typeface="Times New Roman" panose="02020603050405020304" pitchFamily="18" charset="0"/>
                          <a:cs typeface="Times New Roman" panose="02020603050405020304" pitchFamily="18" charset="0"/>
                        </a:rPr>
                        <a:t>Liakt</a:t>
                      </a:r>
                      <a:r>
                        <a:rPr lang="en-IN" sz="1400" dirty="0">
                          <a:latin typeface="Times New Roman" panose="02020603050405020304" pitchFamily="18" charset="0"/>
                          <a:cs typeface="Times New Roman" panose="02020603050405020304" pitchFamily="18" charset="0"/>
                        </a:rPr>
                        <a:t> Ali &amp; Abu</a:t>
                      </a:r>
                      <a:endParaRPr lang="en-IN" sz="1400" dirty="0">
                        <a:latin typeface="Times New Roman" panose="02020603050405020304" pitchFamily="18" charset="0"/>
                        <a:cs typeface="Times New Roman" panose="02020603050405020304" pitchFamily="18" charset="0"/>
                      </a:endParaRPr>
                    </a:p>
                    <a:p>
                      <a:r>
                        <a:rPr lang="en-IN" sz="1400" dirty="0" err="1">
                          <a:latin typeface="Times New Roman" panose="02020603050405020304" pitchFamily="18" charset="0"/>
                          <a:cs typeface="Times New Roman" panose="02020603050405020304" pitchFamily="18" charset="0"/>
                        </a:rPr>
                        <a:t>Kamruzzaman</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Deep Learning Techniques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 High computational cost and resource-intensive.</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 Often lacks interpretability, making it challenging to understand decision processes.</a:t>
                      </a:r>
                      <a:endParaRPr lang="en-IN" sz="1400" dirty="0">
                        <a:latin typeface="Times New Roman" panose="02020603050405020304" pitchFamily="18" charset="0"/>
                        <a:cs typeface="Times New Roman" panose="02020603050405020304" pitchFamily="18" charset="0"/>
                      </a:endParaRPr>
                    </a:p>
                  </a:txBody>
                  <a:tcPr/>
                </a:tc>
              </a:tr>
              <a:tr h="996191">
                <a:tc>
                  <a:txBody>
                    <a:bodyPr/>
                    <a:lstStyle/>
                    <a:p>
                      <a:endParaRPr lang="en-IN"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4</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A Systematic Literature Review on Phishing and Anti-Phishing Techniques </a:t>
                      </a:r>
                      <a:endParaRPr lang="en-IN" sz="1400" dirty="0">
                        <a:latin typeface="Times New Roman" panose="02020603050405020304" pitchFamily="18" charset="0"/>
                        <a:cs typeface="Times New Roman" panose="02020603050405020304" pitchFamily="18" charset="0"/>
                      </a:endParaRPr>
                    </a:p>
                  </a:txBody>
                  <a:tcPr/>
                </a:tc>
                <a:tc>
                  <a:txBody>
                    <a:bodyPr/>
                    <a:lstStyle/>
                    <a:p>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2021</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Ayesha Arshad &amp; </a:t>
                      </a:r>
                      <a:r>
                        <a:rPr lang="en-IN" sz="1400" dirty="0" err="1">
                          <a:latin typeface="Times New Roman" panose="02020603050405020304" pitchFamily="18" charset="0"/>
                          <a:cs typeface="Times New Roman" panose="02020603050405020304" pitchFamily="18" charset="0"/>
                        </a:rPr>
                        <a:t>Attique</a:t>
                      </a:r>
                      <a:r>
                        <a:rPr lang="en-IN" sz="1400" dirty="0">
                          <a:latin typeface="Times New Roman" panose="02020603050405020304" pitchFamily="18" charset="0"/>
                          <a:cs typeface="Times New Roman" panose="02020603050405020304" pitchFamily="18" charset="0"/>
                        </a:rPr>
                        <a:t> Ur Rehman &amp; , </a:t>
                      </a:r>
                      <a:r>
                        <a:rPr lang="en-IN" sz="1400" dirty="0" err="1">
                          <a:latin typeface="Times New Roman" panose="02020603050405020304" pitchFamily="18" charset="0"/>
                          <a:cs typeface="Times New Roman" panose="02020603050405020304" pitchFamily="18" charset="0"/>
                        </a:rPr>
                        <a:t>Sabeen</a:t>
                      </a:r>
                      <a:r>
                        <a:rPr lang="en-IN" sz="1400" dirty="0">
                          <a:latin typeface="Times New Roman" panose="02020603050405020304" pitchFamily="18" charset="0"/>
                          <a:cs typeface="Times New Roman" panose="02020603050405020304" pitchFamily="18" charset="0"/>
                        </a:rPr>
                        <a:t> Javaid</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Hybrid Approaches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 Increased system complexity.</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 Potential integration challenges between different detection components.</a:t>
                      </a:r>
                      <a:endParaRPr lang="en-IN" sz="1400"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0" y="0"/>
            <a:ext cx="12191365" cy="824865"/>
          </a:xfrm>
          <a:prstGeom prst="rect">
            <a:avLst/>
          </a:prstGeom>
          <a:solidFill>
            <a:srgbClr val="002060"/>
          </a:solidFill>
        </p:spPr>
        <p:txBody>
          <a:bodyPr/>
          <a:lstStyle/>
          <a:p>
            <a:pPr marL="0" marR="0" lvl="0" indent="0" algn="l" defTabSz="914400" rtl="0" eaLnBrk="1" fontAlgn="auto" latinLnBrk="0" hangingPunct="1">
              <a:lnSpc>
                <a:spcPct val="90000"/>
              </a:lnSpc>
              <a:spcBef>
                <a:spcPct val="0"/>
              </a:spcBef>
              <a:spcAft>
                <a:spcPts val="0"/>
              </a:spcAft>
              <a:buClrTx/>
              <a:buSzTx/>
              <a:buFontTx/>
              <a:buNone/>
              <a:defRPr/>
            </a:pPr>
            <a:r>
              <a:rPr lang="en-IN" sz="4400" b="1" dirty="0">
                <a:ln>
                  <a:solidFill>
                    <a:schemeClr val="bg1"/>
                  </a:solidFill>
                </a:ln>
                <a:solidFill>
                  <a:schemeClr val="bg1"/>
                </a:solidFill>
                <a:latin typeface="Times New Roman" panose="02020603050405020304" pitchFamily="18" charset="0"/>
                <a:ea typeface="+mj-ea"/>
                <a:cs typeface="Times New Roman" panose="02020603050405020304" pitchFamily="18" charset="0"/>
              </a:rPr>
              <a:t>System requirement</a:t>
            </a:r>
            <a:endPar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endParaRPr>
          </a:p>
        </p:txBody>
      </p:sp>
      <p:sp>
        <p:nvSpPr>
          <p:cNvPr id="4" name="TextBox 3"/>
          <p:cNvSpPr txBox="1"/>
          <p:nvPr/>
        </p:nvSpPr>
        <p:spPr>
          <a:xfrm>
            <a:off x="0" y="6538912"/>
            <a:ext cx="12192000" cy="368300"/>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fld id="{A779D412-7551-4DA0-A19D-519BB8214474}" type="slidenum">
              <a:rPr lang="en-IN" smtClean="0">
                <a:ln>
                  <a:solidFill>
                    <a:schemeClr val="bg1"/>
                  </a:solidFill>
                </a:ln>
                <a:solidFill>
                  <a:schemeClr val="bg1"/>
                </a:solidFill>
              </a:rPr>
            </a:fld>
            <a:endParaRPr lang="en-IN" dirty="0">
              <a:ln>
                <a:solidFill>
                  <a:schemeClr val="bg1"/>
                </a:solidFill>
              </a:ln>
              <a:solidFill>
                <a:schemeClr val="bg1"/>
              </a:solidFill>
            </a:endParaRPr>
          </a:p>
        </p:txBody>
      </p:sp>
      <p:graphicFrame>
        <p:nvGraphicFramePr>
          <p:cNvPr id="5" name="Table 4"/>
          <p:cNvGraphicFramePr>
            <a:graphicFrameLocks noGrp="1"/>
          </p:cNvGraphicFramePr>
          <p:nvPr/>
        </p:nvGraphicFramePr>
        <p:xfrm>
          <a:off x="679579" y="2050659"/>
          <a:ext cx="10515600" cy="2756682"/>
        </p:xfrm>
        <a:graphic>
          <a:graphicData uri="http://schemas.openxmlformats.org/drawingml/2006/table">
            <a:tbl>
              <a:tblPr>
                <a:tableStyleId>{3C2FFA5D-87B4-456A-9821-1D502468CF0F}</a:tableStyleId>
              </a:tblPr>
              <a:tblGrid>
                <a:gridCol w="5257800"/>
                <a:gridCol w="5257800"/>
              </a:tblGrid>
              <a:tr h="459447">
                <a:tc>
                  <a:txBody>
                    <a:bodyPr/>
                    <a:lstStyle/>
                    <a:p>
                      <a:r>
                        <a:rPr lang="en-IN" dirty="0">
                          <a:latin typeface="Times New Roman" panose="02020603050405020304" pitchFamily="18" charset="0"/>
                          <a:cs typeface="Times New Roman" panose="02020603050405020304" pitchFamily="18" charset="0"/>
                        </a:rPr>
                        <a:t>Component</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dirty="0">
                          <a:latin typeface="Times New Roman" panose="02020603050405020304" pitchFamily="18" charset="0"/>
                          <a:cs typeface="Times New Roman" panose="02020603050405020304" pitchFamily="18" charset="0"/>
                        </a:rPr>
                        <a:t>Specification</a:t>
                      </a:r>
                      <a:endParaRPr lang="en-IN" dirty="0">
                        <a:latin typeface="Times New Roman" panose="02020603050405020304" pitchFamily="18" charset="0"/>
                        <a:cs typeface="Times New Roman" panose="02020603050405020304" pitchFamily="18" charset="0"/>
                      </a:endParaRPr>
                    </a:p>
                  </a:txBody>
                  <a:tcPr anchor="ctr"/>
                </a:tc>
              </a:tr>
              <a:tr h="459447">
                <a:tc>
                  <a:txBody>
                    <a:bodyPr/>
                    <a:lstStyle/>
                    <a:p>
                      <a:r>
                        <a:rPr lang="en-IN" dirty="0">
                          <a:latin typeface="Times New Roman" panose="02020603050405020304" pitchFamily="18" charset="0"/>
                          <a:cs typeface="Times New Roman" panose="02020603050405020304" pitchFamily="18" charset="0"/>
                        </a:rPr>
                        <a:t>Processor</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US" dirty="0">
                          <a:latin typeface="Times New Roman" panose="02020603050405020304" pitchFamily="18" charset="0"/>
                          <a:cs typeface="Times New Roman" panose="02020603050405020304" pitchFamily="18" charset="0"/>
                        </a:rPr>
                        <a:t>Intel i5 (8th Gen) or equivalent</a:t>
                      </a:r>
                      <a:endParaRPr lang="en-US" dirty="0">
                        <a:latin typeface="Times New Roman" panose="02020603050405020304" pitchFamily="18" charset="0"/>
                        <a:cs typeface="Times New Roman" panose="02020603050405020304" pitchFamily="18" charset="0"/>
                      </a:endParaRPr>
                    </a:p>
                  </a:txBody>
                  <a:tcPr anchor="ctr"/>
                </a:tc>
              </a:tr>
              <a:tr h="459447">
                <a:tc>
                  <a:txBody>
                    <a:bodyPr/>
                    <a:lstStyle/>
                    <a:p>
                      <a:r>
                        <a:rPr lang="en-IN" dirty="0">
                          <a:latin typeface="Times New Roman" panose="02020603050405020304" pitchFamily="18" charset="0"/>
                          <a:cs typeface="Times New Roman" panose="02020603050405020304" pitchFamily="18" charset="0"/>
                        </a:rPr>
                        <a:t>RAM</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dirty="0">
                          <a:latin typeface="Times New Roman" panose="02020603050405020304" pitchFamily="18" charset="0"/>
                          <a:cs typeface="Times New Roman" panose="02020603050405020304" pitchFamily="18" charset="0"/>
                        </a:rPr>
                        <a:t>8 GB</a:t>
                      </a:r>
                      <a:endParaRPr lang="en-IN" dirty="0">
                        <a:latin typeface="Times New Roman" panose="02020603050405020304" pitchFamily="18" charset="0"/>
                        <a:cs typeface="Times New Roman" panose="02020603050405020304" pitchFamily="18" charset="0"/>
                      </a:endParaRPr>
                    </a:p>
                  </a:txBody>
                  <a:tcPr anchor="ctr"/>
                </a:tc>
              </a:tr>
              <a:tr h="459447">
                <a:tc>
                  <a:txBody>
                    <a:bodyPr/>
                    <a:lstStyle/>
                    <a:p>
                      <a:r>
                        <a:rPr lang="en-IN">
                          <a:latin typeface="Times New Roman" panose="02020603050405020304" pitchFamily="18" charset="0"/>
                          <a:cs typeface="Times New Roman" panose="02020603050405020304" pitchFamily="18" charset="0"/>
                        </a:rPr>
                        <a:t>Storage</a:t>
                      </a:r>
                      <a:endParaRPr lang="en-IN">
                        <a:latin typeface="Times New Roman" panose="02020603050405020304" pitchFamily="18" charset="0"/>
                        <a:cs typeface="Times New Roman" panose="02020603050405020304" pitchFamily="18" charset="0"/>
                      </a:endParaRPr>
                    </a:p>
                  </a:txBody>
                  <a:tcPr anchor="ctr"/>
                </a:tc>
                <a:tc>
                  <a:txBody>
                    <a:bodyPr/>
                    <a:lstStyle/>
                    <a:p>
                      <a:r>
                        <a:rPr lang="en-IN" dirty="0">
                          <a:latin typeface="Times New Roman" panose="02020603050405020304" pitchFamily="18" charset="0"/>
                          <a:cs typeface="Times New Roman" panose="02020603050405020304" pitchFamily="18" charset="0"/>
                        </a:rPr>
                        <a:t>256 GB SSD</a:t>
                      </a:r>
                      <a:endParaRPr lang="en-IN" dirty="0">
                        <a:latin typeface="Times New Roman" panose="02020603050405020304" pitchFamily="18" charset="0"/>
                        <a:cs typeface="Times New Roman" panose="02020603050405020304" pitchFamily="18" charset="0"/>
                      </a:endParaRPr>
                    </a:p>
                  </a:txBody>
                  <a:tcPr anchor="ctr"/>
                </a:tc>
              </a:tr>
              <a:tr h="459447">
                <a:tc>
                  <a:txBody>
                    <a:bodyPr/>
                    <a:lstStyle/>
                    <a:p>
                      <a:r>
                        <a:rPr lang="en-IN" dirty="0">
                          <a:latin typeface="Times New Roman" panose="02020603050405020304" pitchFamily="18" charset="0"/>
                          <a:cs typeface="Times New Roman" panose="02020603050405020304" pitchFamily="18" charset="0"/>
                        </a:rPr>
                        <a:t>GPU (for ML training)</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dirty="0">
                          <a:latin typeface="Times New Roman" panose="02020603050405020304" pitchFamily="18" charset="0"/>
                          <a:cs typeface="Times New Roman" panose="02020603050405020304" pitchFamily="18" charset="0"/>
                        </a:rPr>
                        <a:t>NVIDIA GTX 1050 (optional)</a:t>
                      </a:r>
                      <a:endParaRPr lang="en-IN" dirty="0">
                        <a:latin typeface="Times New Roman" panose="02020603050405020304" pitchFamily="18" charset="0"/>
                        <a:cs typeface="Times New Roman" panose="02020603050405020304" pitchFamily="18" charset="0"/>
                      </a:endParaRPr>
                    </a:p>
                  </a:txBody>
                  <a:tcPr anchor="ctr"/>
                </a:tc>
              </a:tr>
              <a:tr h="459447">
                <a:tc>
                  <a:txBody>
                    <a:bodyPr/>
                    <a:lstStyle/>
                    <a:p>
                      <a:r>
                        <a:rPr lang="en-IN" dirty="0">
                          <a:latin typeface="Times New Roman" panose="02020603050405020304" pitchFamily="18" charset="0"/>
                          <a:cs typeface="Times New Roman" panose="02020603050405020304" pitchFamily="18" charset="0"/>
                        </a:rPr>
                        <a:t>Network</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dirty="0">
                          <a:latin typeface="Times New Roman" panose="02020603050405020304" pitchFamily="18" charset="0"/>
                          <a:cs typeface="Times New Roman" panose="02020603050405020304" pitchFamily="18" charset="0"/>
                        </a:rPr>
                        <a:t>Internet connection (1 Mbps+)</a:t>
                      </a:r>
                      <a:endParaRPr lang="en-IN" dirty="0">
                        <a:latin typeface="Times New Roman" panose="02020603050405020304" pitchFamily="18" charset="0"/>
                        <a:cs typeface="Times New Roman" panose="02020603050405020304" pitchFamily="18" charset="0"/>
                      </a:endParaRPr>
                    </a:p>
                  </a:txBody>
                  <a:tcPr anchor="ctr"/>
                </a:tc>
              </a:tr>
            </a:tbl>
          </a:graphicData>
        </a:graphic>
      </p:graphicFrame>
      <p:sp>
        <p:nvSpPr>
          <p:cNvPr id="6" name="Title 1"/>
          <p:cNvSpPr txBox="1"/>
          <p:nvPr/>
        </p:nvSpPr>
        <p:spPr>
          <a:xfrm>
            <a:off x="679579" y="1137876"/>
            <a:ext cx="10515600" cy="6722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Hardware Requirements</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0" y="0"/>
            <a:ext cx="12192000" cy="793750"/>
          </a:xfrm>
          <a:prstGeom prst="rect">
            <a:avLst/>
          </a:prstGeom>
          <a:solidFill>
            <a:srgbClr val="002060"/>
          </a:solidFill>
        </p:spPr>
        <p:txBody>
          <a:bodyPr/>
          <a:lstStyle/>
          <a:p>
            <a:pPr marL="0" marR="0" lvl="0" indent="0" algn="l" defTabSz="914400" rtl="0" eaLnBrk="1" fontAlgn="auto" latinLnBrk="0" hangingPunct="1">
              <a:lnSpc>
                <a:spcPct val="90000"/>
              </a:lnSpc>
              <a:spcBef>
                <a:spcPct val="0"/>
              </a:spcBef>
              <a:spcAft>
                <a:spcPts val="0"/>
              </a:spcAft>
              <a:buClrTx/>
              <a:buSzTx/>
              <a:buFontTx/>
              <a:buNone/>
              <a:defRPr/>
            </a:pPr>
            <a:r>
              <a:rPr lang="en-IN" sz="4400" b="1" dirty="0">
                <a:ln>
                  <a:solidFill>
                    <a:schemeClr val="bg1"/>
                  </a:solidFill>
                </a:ln>
                <a:solidFill>
                  <a:schemeClr val="bg1"/>
                </a:solidFill>
                <a:latin typeface="Times New Roman" panose="02020603050405020304" pitchFamily="18" charset="0"/>
                <a:ea typeface="+mj-ea"/>
                <a:cs typeface="Times New Roman" panose="02020603050405020304" pitchFamily="18" charset="0"/>
              </a:rPr>
              <a:t>System requirement</a:t>
            </a:r>
            <a:endPar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endParaRPr>
          </a:p>
        </p:txBody>
      </p:sp>
      <p:sp>
        <p:nvSpPr>
          <p:cNvPr id="7" name="TextBox 6"/>
          <p:cNvSpPr txBox="1"/>
          <p:nvPr/>
        </p:nvSpPr>
        <p:spPr>
          <a:xfrm>
            <a:off x="0" y="6538912"/>
            <a:ext cx="12192000" cy="368300"/>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fld id="{A779D412-7551-4DA0-A19D-519BB8214474}" type="slidenum">
              <a:rPr lang="en-IN" smtClean="0">
                <a:ln>
                  <a:solidFill>
                    <a:schemeClr val="bg1"/>
                  </a:solidFill>
                </a:ln>
                <a:solidFill>
                  <a:schemeClr val="bg1"/>
                </a:solidFill>
              </a:rPr>
            </a:fld>
            <a:endParaRPr lang="en-IN" dirty="0">
              <a:ln>
                <a:solidFill>
                  <a:schemeClr val="bg1"/>
                </a:solidFill>
              </a:ln>
              <a:solidFill>
                <a:schemeClr val="bg1"/>
              </a:solidFill>
            </a:endParaRPr>
          </a:p>
        </p:txBody>
      </p:sp>
      <p:sp>
        <p:nvSpPr>
          <p:cNvPr id="9" name="Title 1"/>
          <p:cNvSpPr txBox="1"/>
          <p:nvPr/>
        </p:nvSpPr>
        <p:spPr>
          <a:xfrm>
            <a:off x="679579" y="1137876"/>
            <a:ext cx="10515600" cy="6722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Software Requirements</a:t>
            </a:r>
            <a:endParaRPr lang="en-IN" dirty="0">
              <a:latin typeface="Times New Roman" panose="02020603050405020304" pitchFamily="18" charset="0"/>
              <a:cs typeface="Times New Roman" panose="02020603050405020304" pitchFamily="18" charset="0"/>
            </a:endParaRPr>
          </a:p>
        </p:txBody>
      </p:sp>
      <p:sp>
        <p:nvSpPr>
          <p:cNvPr id="11" name="Rectangle 1"/>
          <p:cNvSpPr txBox="1">
            <a:spLocks noChangeArrowheads="1"/>
          </p:cNvSpPr>
          <p:nvPr/>
        </p:nvSpPr>
        <p:spPr bwMode="auto">
          <a:xfrm>
            <a:off x="838200" y="2154637"/>
            <a:ext cx="10189191"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FontTx/>
              <a:buNone/>
            </a:pPr>
            <a:r>
              <a:rPr lang="en-US" altLang="en-US" sz="1800" b="1" dirty="0">
                <a:latin typeface="Times New Roman" panose="02020603050405020304" pitchFamily="18" charset="0"/>
                <a:cs typeface="Times New Roman" panose="02020603050405020304" pitchFamily="18" charset="0"/>
              </a:rPr>
              <a:t>System Software</a:t>
            </a:r>
            <a:endParaRPr lang="en-US" altLang="en-US" sz="1800" b="1"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Operating System: Windows 10/11, Linux (Ubuntu 20.04+), or macOS</a:t>
            </a:r>
            <a:endParaRPr lang="en-US" altLang="en-US" sz="18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Python 3.8+ environment</a:t>
            </a:r>
            <a:endParaRPr lang="en-US" altLang="en-US" sz="18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FontTx/>
              <a:buNone/>
            </a:pPr>
            <a:endParaRPr lang="en-US" altLang="en-US" sz="1800" b="1"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FontTx/>
              <a:buNone/>
            </a:pPr>
            <a:r>
              <a:rPr lang="en-US" altLang="en-US" sz="1800" b="1" dirty="0">
                <a:latin typeface="Times New Roman" panose="02020603050405020304" pitchFamily="18" charset="0"/>
                <a:cs typeface="Times New Roman" panose="02020603050405020304" pitchFamily="18" charset="0"/>
              </a:rPr>
              <a:t>Application Software / Tools</a:t>
            </a:r>
            <a:endParaRPr lang="en-US" altLang="en-US" sz="1800" b="1"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Python libraries:</a:t>
            </a:r>
            <a:endParaRPr lang="en-US" altLang="en-US" sz="1800" dirty="0">
              <a:latin typeface="Times New Roman" panose="02020603050405020304" pitchFamily="18" charset="0"/>
              <a:cs typeface="Times New Roman" panose="02020603050405020304" pitchFamily="18" charset="0"/>
            </a:endParaRPr>
          </a:p>
          <a:p>
            <a:pPr marL="457200" lvl="1" indent="0"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scikit-learn, pandas, </a:t>
            </a:r>
            <a:r>
              <a:rPr lang="en-US" altLang="en-US" sz="1800" dirty="0" err="1">
                <a:latin typeface="Times New Roman" panose="02020603050405020304" pitchFamily="18" charset="0"/>
                <a:cs typeface="Times New Roman" panose="02020603050405020304" pitchFamily="18" charset="0"/>
              </a:rPr>
              <a:t>numpy</a:t>
            </a:r>
            <a:r>
              <a:rPr lang="en-US" altLang="en-US" sz="1800" dirty="0">
                <a:latin typeface="Times New Roman" panose="02020603050405020304" pitchFamily="18" charset="0"/>
                <a:cs typeface="Times New Roman" panose="02020603050405020304" pitchFamily="18" charset="0"/>
              </a:rPr>
              <a:t>, matplotlib, seaborn, </a:t>
            </a:r>
            <a:r>
              <a:rPr lang="en-US" altLang="en-US" sz="1800" dirty="0" err="1">
                <a:latin typeface="Times New Roman" panose="02020603050405020304" pitchFamily="18" charset="0"/>
                <a:cs typeface="Times New Roman" panose="02020603050405020304" pitchFamily="18" charset="0"/>
              </a:rPr>
              <a:t>fp</a:t>
            </a:r>
            <a:r>
              <a:rPr lang="en-US" altLang="en-US" sz="1800" dirty="0">
                <a:latin typeface="Times New Roman" panose="02020603050405020304" pitchFamily="18" charset="0"/>
                <a:cs typeface="Times New Roman" panose="02020603050405020304" pitchFamily="18" charset="0"/>
              </a:rPr>
              <a:t>-growth</a:t>
            </a:r>
            <a:endParaRPr lang="en-US" altLang="en-US" sz="18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Web development stack (if web-based GUI):</a:t>
            </a:r>
            <a:endParaRPr lang="en-US" altLang="en-US" sz="1800" dirty="0">
              <a:latin typeface="Times New Roman" panose="02020603050405020304" pitchFamily="18" charset="0"/>
              <a:cs typeface="Times New Roman" panose="02020603050405020304" pitchFamily="18" charset="0"/>
            </a:endParaRPr>
          </a:p>
          <a:p>
            <a:pPr marL="457200" lvl="1" indent="0"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Frontend: HTML, CSS, JavaScript, React.js </a:t>
            </a:r>
            <a:endParaRPr lang="en-US" altLang="en-US" sz="1800" dirty="0">
              <a:latin typeface="Times New Roman" panose="02020603050405020304" pitchFamily="18" charset="0"/>
              <a:cs typeface="Times New Roman" panose="02020603050405020304" pitchFamily="18" charset="0"/>
            </a:endParaRPr>
          </a:p>
          <a:p>
            <a:pPr marL="457200" lvl="1" indent="0"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Backend: Flask/Django</a:t>
            </a:r>
            <a:endParaRPr lang="en-US" altLang="en-US" sz="18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Database: MySQL / MongoDB</a:t>
            </a:r>
            <a:endParaRPr lang="en-US" altLang="en-US" sz="18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IDE: </a:t>
            </a:r>
            <a:r>
              <a:rPr lang="en-US" altLang="en-US" sz="1800" dirty="0" err="1">
                <a:latin typeface="Times New Roman" panose="02020603050405020304" pitchFamily="18" charset="0"/>
                <a:cs typeface="Times New Roman" panose="02020603050405020304" pitchFamily="18" charset="0"/>
              </a:rPr>
              <a:t>Jupyter</a:t>
            </a:r>
            <a:r>
              <a:rPr lang="en-US" altLang="en-US" sz="1800" dirty="0">
                <a:latin typeface="Times New Roman" panose="02020603050405020304" pitchFamily="18" charset="0"/>
                <a:cs typeface="Times New Roman" panose="02020603050405020304" pitchFamily="18" charset="0"/>
              </a:rPr>
              <a:t> Notebook </a:t>
            </a:r>
            <a:endParaRPr lang="en-US" altLang="en-US" sz="18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FontTx/>
              <a:buNone/>
            </a:pPr>
            <a:endParaRPr lang="en-US" altLang="en-US" sz="1800" dirty="0">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0" y="0"/>
            <a:ext cx="11027391" cy="844197"/>
          </a:xfrm>
          <a:prstGeom prst="rect">
            <a:avLst/>
          </a:prstGeom>
          <a:solidFill>
            <a:srgbClr val="002060"/>
          </a:solidFill>
        </p:spPr>
        <p:txBody>
          <a:bodyPr/>
          <a:lstStyle/>
          <a:p>
            <a:pPr marL="0" marR="0" lvl="0" indent="0" algn="l" defTabSz="914400" rtl="0" eaLnBrk="1" fontAlgn="auto" latinLnBrk="0" hangingPunct="1">
              <a:lnSpc>
                <a:spcPct val="90000"/>
              </a:lnSpc>
              <a:spcBef>
                <a:spcPct val="0"/>
              </a:spcBef>
              <a:spcAft>
                <a:spcPts val="0"/>
              </a:spcAft>
              <a:buClrTx/>
              <a:buSzTx/>
              <a:buFontTx/>
              <a:buNone/>
              <a:defRPr/>
            </a:pPr>
            <a:r>
              <a:rPr lang="en-IN" sz="4400" b="1" dirty="0">
                <a:ln>
                  <a:solidFill>
                    <a:schemeClr val="bg1"/>
                  </a:solidFill>
                </a:ln>
                <a:solidFill>
                  <a:schemeClr val="bg1"/>
                </a:solidFill>
                <a:latin typeface="Times New Roman" panose="02020603050405020304" pitchFamily="18" charset="0"/>
                <a:ea typeface="+mj-ea"/>
                <a:cs typeface="Times New Roman" panose="02020603050405020304" pitchFamily="18" charset="0"/>
              </a:rPr>
              <a:t>System requirement</a:t>
            </a:r>
            <a:endPar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endParaRPr>
          </a:p>
        </p:txBody>
      </p:sp>
      <p:sp>
        <p:nvSpPr>
          <p:cNvPr id="8" name="TextBox 7"/>
          <p:cNvSpPr txBox="1"/>
          <p:nvPr/>
        </p:nvSpPr>
        <p:spPr>
          <a:xfrm>
            <a:off x="0" y="6538912"/>
            <a:ext cx="12192000" cy="368300"/>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fld id="{A779D412-7551-4DA0-A19D-519BB8214474}" type="slidenum">
              <a:rPr lang="en-IN" smtClean="0">
                <a:ln>
                  <a:solidFill>
                    <a:schemeClr val="bg1"/>
                  </a:solidFill>
                </a:ln>
                <a:solidFill>
                  <a:schemeClr val="bg1"/>
                </a:solidFill>
              </a:rPr>
            </a:fld>
            <a:endParaRPr lang="en-IN" dirty="0">
              <a:ln>
                <a:solidFill>
                  <a:schemeClr val="bg1"/>
                </a:solidFill>
              </a:ln>
              <a:solidFill>
                <a:schemeClr val="bg1"/>
              </a:solidFill>
            </a:endParaRPr>
          </a:p>
        </p:txBody>
      </p:sp>
      <p:sp>
        <p:nvSpPr>
          <p:cNvPr id="9" name="Title 1"/>
          <p:cNvSpPr txBox="1"/>
          <p:nvPr/>
        </p:nvSpPr>
        <p:spPr>
          <a:xfrm>
            <a:off x="511791" y="981737"/>
            <a:ext cx="10515600" cy="6722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Functional Requirements</a:t>
            </a:r>
            <a:endParaRPr lang="en-IN" dirty="0">
              <a:latin typeface="Times New Roman" panose="02020603050405020304" pitchFamily="18" charset="0"/>
              <a:cs typeface="Times New Roman" panose="02020603050405020304" pitchFamily="18" charset="0"/>
            </a:endParaRPr>
          </a:p>
        </p:txBody>
      </p:sp>
      <p:graphicFrame>
        <p:nvGraphicFramePr>
          <p:cNvPr id="19" name="Table 18"/>
          <p:cNvGraphicFramePr>
            <a:graphicFrameLocks noGrp="1"/>
          </p:cNvGraphicFramePr>
          <p:nvPr/>
        </p:nvGraphicFramePr>
        <p:xfrm>
          <a:off x="584439" y="1791540"/>
          <a:ext cx="10008078" cy="4483730"/>
        </p:xfrm>
        <a:graphic>
          <a:graphicData uri="http://schemas.openxmlformats.org/drawingml/2006/table">
            <a:tbl>
              <a:tblPr>
                <a:tableStyleId>{3C2FFA5D-87B4-456A-9821-1D502468CF0F}</a:tableStyleId>
              </a:tblPr>
              <a:tblGrid>
                <a:gridCol w="3791618"/>
                <a:gridCol w="6216460"/>
              </a:tblGrid>
              <a:tr h="348107">
                <a:tc>
                  <a:txBody>
                    <a:bodyPr/>
                    <a:lstStyle/>
                    <a:p>
                      <a:r>
                        <a:rPr lang="en-IN" sz="1800">
                          <a:latin typeface="Times New Roman" panose="02020603050405020304" pitchFamily="18" charset="0"/>
                          <a:cs typeface="Times New Roman" panose="02020603050405020304" pitchFamily="18" charset="0"/>
                        </a:rPr>
                        <a:t>ID</a:t>
                      </a:r>
                      <a:endParaRPr lang="en-IN" sz="1800">
                        <a:latin typeface="Times New Roman" panose="02020603050405020304" pitchFamily="18" charset="0"/>
                        <a:cs typeface="Times New Roman" panose="02020603050405020304" pitchFamily="18" charset="0"/>
                      </a:endParaRPr>
                    </a:p>
                  </a:txBody>
                  <a:tcPr marL="87027" marR="87027" marT="43513" marB="43513" anchor="ctr"/>
                </a:tc>
                <a:tc>
                  <a:txBody>
                    <a:bodyPr/>
                    <a:lstStyle/>
                    <a:p>
                      <a:r>
                        <a:rPr lang="en-IN" sz="1800">
                          <a:latin typeface="Times New Roman" panose="02020603050405020304" pitchFamily="18" charset="0"/>
                          <a:cs typeface="Times New Roman" panose="02020603050405020304" pitchFamily="18" charset="0"/>
                        </a:rPr>
                        <a:t>Requirement Description</a:t>
                      </a:r>
                      <a:endParaRPr lang="en-IN" sz="1800">
                        <a:latin typeface="Times New Roman" panose="02020603050405020304" pitchFamily="18" charset="0"/>
                        <a:cs typeface="Times New Roman" panose="02020603050405020304" pitchFamily="18" charset="0"/>
                      </a:endParaRPr>
                    </a:p>
                  </a:txBody>
                  <a:tcPr marL="87027" marR="87027" marT="43513" marB="43513" anchor="ctr"/>
                </a:tc>
              </a:tr>
              <a:tr h="348107">
                <a:tc>
                  <a:txBody>
                    <a:bodyPr/>
                    <a:lstStyle/>
                    <a:p>
                      <a:r>
                        <a:rPr lang="en-IN" sz="1800">
                          <a:latin typeface="Times New Roman" panose="02020603050405020304" pitchFamily="18" charset="0"/>
                          <a:cs typeface="Times New Roman" panose="02020603050405020304" pitchFamily="18" charset="0"/>
                        </a:rPr>
                        <a:t>FR1</a:t>
                      </a:r>
                      <a:endParaRPr lang="en-IN" sz="1800">
                        <a:latin typeface="Times New Roman" panose="02020603050405020304" pitchFamily="18" charset="0"/>
                        <a:cs typeface="Times New Roman" panose="02020603050405020304" pitchFamily="18" charset="0"/>
                      </a:endParaRPr>
                    </a:p>
                  </a:txBody>
                  <a:tcPr marL="87027" marR="87027" marT="43513" marB="43513" anchor="ctr"/>
                </a:tc>
                <a:tc>
                  <a:txBody>
                    <a:bodyPr/>
                    <a:lstStyle/>
                    <a:p>
                      <a:r>
                        <a:rPr lang="en-US" sz="1800">
                          <a:latin typeface="Times New Roman" panose="02020603050405020304" pitchFamily="18" charset="0"/>
                          <a:cs typeface="Times New Roman" panose="02020603050405020304" pitchFamily="18" charset="0"/>
                        </a:rPr>
                        <a:t>The system shall accept a URL as input.</a:t>
                      </a:r>
                      <a:endParaRPr lang="en-US" sz="1800">
                        <a:latin typeface="Times New Roman" panose="02020603050405020304" pitchFamily="18" charset="0"/>
                        <a:cs typeface="Times New Roman" panose="02020603050405020304" pitchFamily="18" charset="0"/>
                      </a:endParaRPr>
                    </a:p>
                  </a:txBody>
                  <a:tcPr marL="87027" marR="87027" marT="43513" marB="43513" anchor="ctr"/>
                </a:tc>
              </a:tr>
              <a:tr h="609187">
                <a:tc>
                  <a:txBody>
                    <a:bodyPr/>
                    <a:lstStyle/>
                    <a:p>
                      <a:r>
                        <a:rPr lang="en-IN" sz="1800">
                          <a:latin typeface="Times New Roman" panose="02020603050405020304" pitchFamily="18" charset="0"/>
                          <a:cs typeface="Times New Roman" panose="02020603050405020304" pitchFamily="18" charset="0"/>
                        </a:rPr>
                        <a:t>FR2</a:t>
                      </a:r>
                      <a:endParaRPr lang="en-IN" sz="1800">
                        <a:latin typeface="Times New Roman" panose="02020603050405020304" pitchFamily="18" charset="0"/>
                        <a:cs typeface="Times New Roman" panose="02020603050405020304" pitchFamily="18" charset="0"/>
                      </a:endParaRPr>
                    </a:p>
                  </a:txBody>
                  <a:tcPr marL="87027" marR="87027" marT="43513" marB="43513" anchor="ctr"/>
                </a:tc>
                <a:tc>
                  <a:txBody>
                    <a:bodyPr/>
                    <a:lstStyle/>
                    <a:p>
                      <a:r>
                        <a:rPr lang="en-US" sz="1800">
                          <a:latin typeface="Times New Roman" panose="02020603050405020304" pitchFamily="18" charset="0"/>
                          <a:cs typeface="Times New Roman" panose="02020603050405020304" pitchFamily="18" charset="0"/>
                        </a:rPr>
                        <a:t>The system shall extract features (URL, domain, HTML, JavaScript) from the input.</a:t>
                      </a:r>
                      <a:endParaRPr lang="en-US" sz="1800">
                        <a:latin typeface="Times New Roman" panose="02020603050405020304" pitchFamily="18" charset="0"/>
                        <a:cs typeface="Times New Roman" panose="02020603050405020304" pitchFamily="18" charset="0"/>
                      </a:endParaRPr>
                    </a:p>
                  </a:txBody>
                  <a:tcPr marL="87027" marR="87027" marT="43513" marB="43513" anchor="ctr"/>
                </a:tc>
              </a:tr>
              <a:tr h="609187">
                <a:tc>
                  <a:txBody>
                    <a:bodyPr/>
                    <a:lstStyle/>
                    <a:p>
                      <a:r>
                        <a:rPr lang="en-IN" sz="1800">
                          <a:latin typeface="Times New Roman" panose="02020603050405020304" pitchFamily="18" charset="0"/>
                          <a:cs typeface="Times New Roman" panose="02020603050405020304" pitchFamily="18" charset="0"/>
                        </a:rPr>
                        <a:t>FR3</a:t>
                      </a:r>
                      <a:endParaRPr lang="en-IN" sz="1800">
                        <a:latin typeface="Times New Roman" panose="02020603050405020304" pitchFamily="18" charset="0"/>
                        <a:cs typeface="Times New Roman" panose="02020603050405020304" pitchFamily="18" charset="0"/>
                      </a:endParaRPr>
                    </a:p>
                  </a:txBody>
                  <a:tcPr marL="87027" marR="87027" marT="43513" marB="43513" anchor="ctr"/>
                </a:tc>
                <a:tc>
                  <a:txBody>
                    <a:bodyPr/>
                    <a:lstStyle/>
                    <a:p>
                      <a:r>
                        <a:rPr lang="en-US" sz="1800">
                          <a:latin typeface="Times New Roman" panose="02020603050405020304" pitchFamily="18" charset="0"/>
                          <a:cs typeface="Times New Roman" panose="02020603050405020304" pitchFamily="18" charset="0"/>
                        </a:rPr>
                        <a:t>The system shall apply associative classification to label the URL as phishing or legitimate.</a:t>
                      </a:r>
                      <a:endParaRPr lang="en-US" sz="1800">
                        <a:latin typeface="Times New Roman" panose="02020603050405020304" pitchFamily="18" charset="0"/>
                        <a:cs typeface="Times New Roman" panose="02020603050405020304" pitchFamily="18" charset="0"/>
                      </a:endParaRPr>
                    </a:p>
                  </a:txBody>
                  <a:tcPr marL="87027" marR="87027" marT="43513" marB="43513" anchor="ctr"/>
                </a:tc>
              </a:tr>
              <a:tr h="609187">
                <a:tc>
                  <a:txBody>
                    <a:bodyPr/>
                    <a:lstStyle/>
                    <a:p>
                      <a:r>
                        <a:rPr lang="en-IN" sz="1800" dirty="0">
                          <a:latin typeface="Times New Roman" panose="02020603050405020304" pitchFamily="18" charset="0"/>
                          <a:cs typeface="Times New Roman" panose="02020603050405020304" pitchFamily="18" charset="0"/>
                        </a:rPr>
                        <a:t>FR4</a:t>
                      </a:r>
                      <a:endParaRPr lang="en-IN" sz="1800" dirty="0">
                        <a:latin typeface="Times New Roman" panose="02020603050405020304" pitchFamily="18" charset="0"/>
                        <a:cs typeface="Times New Roman" panose="02020603050405020304" pitchFamily="18" charset="0"/>
                      </a:endParaRPr>
                    </a:p>
                  </a:txBody>
                  <a:tcPr marL="87027" marR="87027" marT="43513" marB="43513" anchor="ctr"/>
                </a:tc>
                <a:tc>
                  <a:txBody>
                    <a:bodyPr/>
                    <a:lstStyle/>
                    <a:p>
                      <a:r>
                        <a:rPr lang="en-US" sz="1800">
                          <a:latin typeface="Times New Roman" panose="02020603050405020304" pitchFamily="18" charset="0"/>
                          <a:cs typeface="Times New Roman" panose="02020603050405020304" pitchFamily="18" charset="0"/>
                        </a:rPr>
                        <a:t>The system shall display the result (legitimate/phishing) to the user.</a:t>
                      </a:r>
                      <a:endParaRPr lang="en-US" sz="1800">
                        <a:latin typeface="Times New Roman" panose="02020603050405020304" pitchFamily="18" charset="0"/>
                        <a:cs typeface="Times New Roman" panose="02020603050405020304" pitchFamily="18" charset="0"/>
                      </a:endParaRPr>
                    </a:p>
                  </a:txBody>
                  <a:tcPr marL="87027" marR="87027" marT="43513" marB="43513" anchor="ctr"/>
                </a:tc>
              </a:tr>
              <a:tr h="609187">
                <a:tc>
                  <a:txBody>
                    <a:bodyPr/>
                    <a:lstStyle/>
                    <a:p>
                      <a:r>
                        <a:rPr lang="en-IN" sz="1800">
                          <a:latin typeface="Times New Roman" panose="02020603050405020304" pitchFamily="18" charset="0"/>
                          <a:cs typeface="Times New Roman" panose="02020603050405020304" pitchFamily="18" charset="0"/>
                        </a:rPr>
                        <a:t>FR5</a:t>
                      </a:r>
                      <a:endParaRPr lang="en-IN" sz="1800">
                        <a:latin typeface="Times New Roman" panose="02020603050405020304" pitchFamily="18" charset="0"/>
                        <a:cs typeface="Times New Roman" panose="02020603050405020304" pitchFamily="18" charset="0"/>
                      </a:endParaRPr>
                    </a:p>
                  </a:txBody>
                  <a:tcPr marL="87027" marR="87027" marT="43513" marB="43513" anchor="ctr"/>
                </a:tc>
                <a:tc>
                  <a:txBody>
                    <a:bodyPr/>
                    <a:lstStyle/>
                    <a:p>
                      <a:r>
                        <a:rPr lang="en-US" sz="1800">
                          <a:latin typeface="Times New Roman" panose="02020603050405020304" pitchFamily="18" charset="0"/>
                          <a:cs typeface="Times New Roman" panose="02020603050405020304" pitchFamily="18" charset="0"/>
                        </a:rPr>
                        <a:t>The system shall maintain logs of URLs analyzed and their outcomes.</a:t>
                      </a:r>
                      <a:endParaRPr lang="en-US" sz="1800">
                        <a:latin typeface="Times New Roman" panose="02020603050405020304" pitchFamily="18" charset="0"/>
                        <a:cs typeface="Times New Roman" panose="02020603050405020304" pitchFamily="18" charset="0"/>
                      </a:endParaRPr>
                    </a:p>
                  </a:txBody>
                  <a:tcPr marL="87027" marR="87027" marT="43513" marB="43513" anchor="ctr"/>
                </a:tc>
              </a:tr>
              <a:tr h="609187">
                <a:tc>
                  <a:txBody>
                    <a:bodyPr/>
                    <a:lstStyle/>
                    <a:p>
                      <a:r>
                        <a:rPr lang="en-IN" sz="1800">
                          <a:latin typeface="Times New Roman" panose="02020603050405020304" pitchFamily="18" charset="0"/>
                          <a:cs typeface="Times New Roman" panose="02020603050405020304" pitchFamily="18" charset="0"/>
                        </a:rPr>
                        <a:t>FR6</a:t>
                      </a:r>
                      <a:endParaRPr lang="en-IN" sz="1800">
                        <a:latin typeface="Times New Roman" panose="02020603050405020304" pitchFamily="18" charset="0"/>
                        <a:cs typeface="Times New Roman" panose="02020603050405020304" pitchFamily="18" charset="0"/>
                      </a:endParaRPr>
                    </a:p>
                  </a:txBody>
                  <a:tcPr marL="87027" marR="87027" marT="43513" marB="43513" anchor="ctr"/>
                </a:tc>
                <a:tc>
                  <a:txBody>
                    <a:bodyPr/>
                    <a:lstStyle/>
                    <a:p>
                      <a:r>
                        <a:rPr lang="en-US" sz="1800">
                          <a:latin typeface="Times New Roman" panose="02020603050405020304" pitchFamily="18" charset="0"/>
                          <a:cs typeface="Times New Roman" panose="02020603050405020304" pitchFamily="18" charset="0"/>
                        </a:rPr>
                        <a:t>The admin shall be able to view reports and system statistics.</a:t>
                      </a:r>
                      <a:endParaRPr lang="en-US" sz="1800">
                        <a:latin typeface="Times New Roman" panose="02020603050405020304" pitchFamily="18" charset="0"/>
                        <a:cs typeface="Times New Roman" panose="02020603050405020304" pitchFamily="18" charset="0"/>
                      </a:endParaRPr>
                    </a:p>
                  </a:txBody>
                  <a:tcPr marL="87027" marR="87027" marT="43513" marB="43513" anchor="ctr"/>
                </a:tc>
              </a:tr>
              <a:tr h="609187">
                <a:tc>
                  <a:txBody>
                    <a:bodyPr/>
                    <a:lstStyle/>
                    <a:p>
                      <a:r>
                        <a:rPr lang="en-IN" sz="1800">
                          <a:latin typeface="Times New Roman" panose="02020603050405020304" pitchFamily="18" charset="0"/>
                          <a:cs typeface="Times New Roman" panose="02020603050405020304" pitchFamily="18" charset="0"/>
                        </a:rPr>
                        <a:t>FR7</a:t>
                      </a:r>
                      <a:endParaRPr lang="en-IN" sz="1800">
                        <a:latin typeface="Times New Roman" panose="02020603050405020304" pitchFamily="18" charset="0"/>
                        <a:cs typeface="Times New Roman" panose="02020603050405020304" pitchFamily="18" charset="0"/>
                      </a:endParaRPr>
                    </a:p>
                  </a:txBody>
                  <a:tcPr marL="87027" marR="87027" marT="43513" marB="43513" anchor="ctr"/>
                </a:tc>
                <a:tc>
                  <a:txBody>
                    <a:bodyPr/>
                    <a:lstStyle/>
                    <a:p>
                      <a:r>
                        <a:rPr lang="en-US" sz="1800" dirty="0">
                          <a:latin typeface="Times New Roman" panose="02020603050405020304" pitchFamily="18" charset="0"/>
                          <a:cs typeface="Times New Roman" panose="02020603050405020304" pitchFamily="18" charset="0"/>
                        </a:rPr>
                        <a:t>The system shall support uploading datasets for batch detection.</a:t>
                      </a:r>
                      <a:endParaRPr lang="en-US" sz="1800" dirty="0">
                        <a:latin typeface="Times New Roman" panose="02020603050405020304" pitchFamily="18" charset="0"/>
                        <a:cs typeface="Times New Roman" panose="02020603050405020304" pitchFamily="18" charset="0"/>
                      </a:endParaRPr>
                    </a:p>
                  </a:txBody>
                  <a:tcPr marL="87027" marR="87027" marT="43513" marB="43513" anchor="ct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0" y="0"/>
            <a:ext cx="12192000" cy="843915"/>
          </a:xfrm>
          <a:prstGeom prst="rect">
            <a:avLst/>
          </a:prstGeom>
          <a:solidFill>
            <a:srgbClr val="002060"/>
          </a:solidFill>
        </p:spPr>
        <p:txBody>
          <a:bodyPr/>
          <a:lstStyle/>
          <a:p>
            <a:pPr marL="0" marR="0" lvl="0" indent="0" algn="l" defTabSz="914400" rtl="0" eaLnBrk="1" fontAlgn="auto" latinLnBrk="0" hangingPunct="1">
              <a:lnSpc>
                <a:spcPct val="90000"/>
              </a:lnSpc>
              <a:spcBef>
                <a:spcPct val="0"/>
              </a:spcBef>
              <a:spcAft>
                <a:spcPts val="0"/>
              </a:spcAft>
              <a:buClrTx/>
              <a:buSzTx/>
              <a:buFontTx/>
              <a:buNone/>
              <a:defRPr/>
            </a:pPr>
            <a:r>
              <a:rPr lang="en-IN" sz="4400" b="1" dirty="0">
                <a:ln>
                  <a:solidFill>
                    <a:schemeClr val="bg1"/>
                  </a:solidFill>
                </a:ln>
                <a:solidFill>
                  <a:schemeClr val="bg1"/>
                </a:solidFill>
                <a:latin typeface="Times New Roman" panose="02020603050405020304" pitchFamily="18" charset="0"/>
                <a:ea typeface="+mj-ea"/>
                <a:cs typeface="Times New Roman" panose="02020603050405020304" pitchFamily="18" charset="0"/>
              </a:rPr>
              <a:t>System requirement</a:t>
            </a:r>
            <a:endPar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endParaRPr>
          </a:p>
        </p:txBody>
      </p:sp>
      <p:sp>
        <p:nvSpPr>
          <p:cNvPr id="6" name="TextBox 5"/>
          <p:cNvSpPr txBox="1"/>
          <p:nvPr/>
        </p:nvSpPr>
        <p:spPr>
          <a:xfrm>
            <a:off x="0" y="6538912"/>
            <a:ext cx="12192000" cy="368300"/>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fld id="{A779D412-7551-4DA0-A19D-519BB8214474}" type="slidenum">
              <a:rPr lang="en-IN" smtClean="0">
                <a:ln>
                  <a:solidFill>
                    <a:schemeClr val="bg1"/>
                  </a:solidFill>
                </a:ln>
                <a:solidFill>
                  <a:schemeClr val="bg1"/>
                </a:solidFill>
              </a:rPr>
            </a:fld>
            <a:endParaRPr lang="en-IN" dirty="0">
              <a:ln>
                <a:solidFill>
                  <a:schemeClr val="bg1"/>
                </a:solidFill>
              </a:ln>
              <a:solidFill>
                <a:schemeClr val="bg1"/>
              </a:solidFill>
            </a:endParaRPr>
          </a:p>
        </p:txBody>
      </p:sp>
      <p:sp>
        <p:nvSpPr>
          <p:cNvPr id="7" name="Title 1"/>
          <p:cNvSpPr txBox="1"/>
          <p:nvPr/>
        </p:nvSpPr>
        <p:spPr>
          <a:xfrm>
            <a:off x="511791" y="981737"/>
            <a:ext cx="10515600" cy="6722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Non-Functional Requirements</a:t>
            </a:r>
            <a:endParaRPr lang="en-IN" dirty="0">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nvGraphicFramePr>
        <p:xfrm>
          <a:off x="601435" y="1791540"/>
          <a:ext cx="10515600" cy="3844151"/>
        </p:xfrm>
        <a:graphic>
          <a:graphicData uri="http://schemas.openxmlformats.org/drawingml/2006/table">
            <a:tbl>
              <a:tblPr>
                <a:tableStyleId>{3C2FFA5D-87B4-456A-9821-1D502468CF0F}</a:tableStyleId>
              </a:tblPr>
              <a:tblGrid>
                <a:gridCol w="3438720"/>
                <a:gridCol w="7076880"/>
              </a:tblGrid>
              <a:tr h="452253">
                <a:tc>
                  <a:txBody>
                    <a:bodyPr/>
                    <a:lstStyle/>
                    <a:p>
                      <a:r>
                        <a:rPr lang="en-IN" sz="1800">
                          <a:latin typeface="Times New Roman" panose="02020603050405020304" pitchFamily="18" charset="0"/>
                          <a:cs typeface="Times New Roman" panose="02020603050405020304" pitchFamily="18" charset="0"/>
                        </a:rPr>
                        <a:t>ID</a:t>
                      </a:r>
                      <a:endParaRPr lang="en-IN" sz="1800">
                        <a:latin typeface="Times New Roman" panose="02020603050405020304" pitchFamily="18" charset="0"/>
                        <a:cs typeface="Times New Roman" panose="02020603050405020304" pitchFamily="18" charset="0"/>
                      </a:endParaRPr>
                    </a:p>
                  </a:txBody>
                  <a:tcPr anchor="ctr"/>
                </a:tc>
                <a:tc>
                  <a:txBody>
                    <a:bodyPr/>
                    <a:lstStyle/>
                    <a:p>
                      <a:r>
                        <a:rPr lang="en-IN" sz="1800">
                          <a:latin typeface="Times New Roman" panose="02020603050405020304" pitchFamily="18" charset="0"/>
                          <a:cs typeface="Times New Roman" panose="02020603050405020304" pitchFamily="18" charset="0"/>
                        </a:rPr>
                        <a:t>Requirement Description</a:t>
                      </a:r>
                      <a:endParaRPr lang="en-IN" sz="1800">
                        <a:latin typeface="Times New Roman" panose="02020603050405020304" pitchFamily="18" charset="0"/>
                        <a:cs typeface="Times New Roman" panose="02020603050405020304" pitchFamily="18" charset="0"/>
                      </a:endParaRPr>
                    </a:p>
                  </a:txBody>
                  <a:tcPr anchor="ctr"/>
                </a:tc>
              </a:tr>
              <a:tr h="452253">
                <a:tc>
                  <a:txBody>
                    <a:bodyPr/>
                    <a:lstStyle/>
                    <a:p>
                      <a:r>
                        <a:rPr lang="en-IN" sz="1800">
                          <a:latin typeface="Times New Roman" panose="02020603050405020304" pitchFamily="18" charset="0"/>
                          <a:cs typeface="Times New Roman" panose="02020603050405020304" pitchFamily="18" charset="0"/>
                        </a:rPr>
                        <a:t>NFR1</a:t>
                      </a:r>
                      <a:endParaRPr lang="en-IN" sz="1800">
                        <a:latin typeface="Times New Roman" panose="02020603050405020304" pitchFamily="18" charset="0"/>
                        <a:cs typeface="Times New Roman" panose="02020603050405020304" pitchFamily="18" charset="0"/>
                      </a:endParaRPr>
                    </a:p>
                  </a:txBody>
                  <a:tcPr anchor="ctr"/>
                </a:tc>
                <a:tc>
                  <a:txBody>
                    <a:bodyPr/>
                    <a:lstStyle/>
                    <a:p>
                      <a:r>
                        <a:rPr lang="en-US" sz="1800">
                          <a:latin typeface="Times New Roman" panose="02020603050405020304" pitchFamily="18" charset="0"/>
                          <a:cs typeface="Times New Roman" panose="02020603050405020304" pitchFamily="18" charset="0"/>
                        </a:rPr>
                        <a:t>The system shall provide results within 5 seconds for single URL input.</a:t>
                      </a:r>
                      <a:endParaRPr lang="en-US" sz="1800">
                        <a:latin typeface="Times New Roman" panose="02020603050405020304" pitchFamily="18" charset="0"/>
                        <a:cs typeface="Times New Roman" panose="02020603050405020304" pitchFamily="18" charset="0"/>
                      </a:endParaRPr>
                    </a:p>
                  </a:txBody>
                  <a:tcPr anchor="ctr"/>
                </a:tc>
              </a:tr>
              <a:tr h="452253">
                <a:tc>
                  <a:txBody>
                    <a:bodyPr/>
                    <a:lstStyle/>
                    <a:p>
                      <a:r>
                        <a:rPr lang="en-IN" sz="1800">
                          <a:latin typeface="Times New Roman" panose="02020603050405020304" pitchFamily="18" charset="0"/>
                          <a:cs typeface="Times New Roman" panose="02020603050405020304" pitchFamily="18" charset="0"/>
                        </a:rPr>
                        <a:t>NFR2</a:t>
                      </a:r>
                      <a:endParaRPr lang="en-IN" sz="1800">
                        <a:latin typeface="Times New Roman" panose="02020603050405020304" pitchFamily="18" charset="0"/>
                        <a:cs typeface="Times New Roman" panose="02020603050405020304" pitchFamily="18" charset="0"/>
                      </a:endParaRPr>
                    </a:p>
                  </a:txBody>
                  <a:tcPr anchor="ctr"/>
                </a:tc>
                <a:tc>
                  <a:txBody>
                    <a:bodyPr/>
                    <a:lstStyle/>
                    <a:p>
                      <a:r>
                        <a:rPr lang="en-US" sz="1800">
                          <a:latin typeface="Times New Roman" panose="02020603050405020304" pitchFamily="18" charset="0"/>
                          <a:cs typeface="Times New Roman" panose="02020603050405020304" pitchFamily="18" charset="0"/>
                        </a:rPr>
                        <a:t>The system shall have an accuracy of at least 90% based on test datasets.</a:t>
                      </a:r>
                      <a:endParaRPr lang="en-US" sz="1800">
                        <a:latin typeface="Times New Roman" panose="02020603050405020304" pitchFamily="18" charset="0"/>
                        <a:cs typeface="Times New Roman" panose="02020603050405020304" pitchFamily="18" charset="0"/>
                      </a:endParaRPr>
                    </a:p>
                  </a:txBody>
                  <a:tcPr anchor="ctr"/>
                </a:tc>
              </a:tr>
              <a:tr h="452253">
                <a:tc>
                  <a:txBody>
                    <a:bodyPr/>
                    <a:lstStyle/>
                    <a:p>
                      <a:r>
                        <a:rPr lang="en-IN" sz="1800">
                          <a:latin typeface="Times New Roman" panose="02020603050405020304" pitchFamily="18" charset="0"/>
                          <a:cs typeface="Times New Roman" panose="02020603050405020304" pitchFamily="18" charset="0"/>
                        </a:rPr>
                        <a:t>NFR3</a:t>
                      </a:r>
                      <a:endParaRPr lang="en-IN" sz="1800">
                        <a:latin typeface="Times New Roman" panose="02020603050405020304" pitchFamily="18" charset="0"/>
                        <a:cs typeface="Times New Roman" panose="02020603050405020304" pitchFamily="18" charset="0"/>
                      </a:endParaRPr>
                    </a:p>
                  </a:txBody>
                  <a:tcPr anchor="ctr"/>
                </a:tc>
                <a:tc>
                  <a:txBody>
                    <a:bodyPr/>
                    <a:lstStyle/>
                    <a:p>
                      <a:r>
                        <a:rPr lang="en-US" sz="1800">
                          <a:latin typeface="Times New Roman" panose="02020603050405020304" pitchFamily="18" charset="0"/>
                          <a:cs typeface="Times New Roman" panose="02020603050405020304" pitchFamily="18" charset="0"/>
                        </a:rPr>
                        <a:t>The system shall ensure data privacy and not store user credentials.</a:t>
                      </a:r>
                      <a:endParaRPr lang="en-US" sz="1800">
                        <a:latin typeface="Times New Roman" panose="02020603050405020304" pitchFamily="18" charset="0"/>
                        <a:cs typeface="Times New Roman" panose="02020603050405020304" pitchFamily="18" charset="0"/>
                      </a:endParaRPr>
                    </a:p>
                  </a:txBody>
                  <a:tcPr anchor="ctr"/>
                </a:tc>
              </a:tr>
              <a:tr h="452253">
                <a:tc>
                  <a:txBody>
                    <a:bodyPr/>
                    <a:lstStyle/>
                    <a:p>
                      <a:r>
                        <a:rPr lang="en-IN" sz="1800" dirty="0">
                          <a:latin typeface="Times New Roman" panose="02020603050405020304" pitchFamily="18" charset="0"/>
                          <a:cs typeface="Times New Roman" panose="02020603050405020304" pitchFamily="18" charset="0"/>
                        </a:rPr>
                        <a:t>NFR4</a:t>
                      </a:r>
                      <a:endParaRPr lang="en-IN" sz="1800" dirty="0">
                        <a:latin typeface="Times New Roman" panose="02020603050405020304" pitchFamily="18" charset="0"/>
                        <a:cs typeface="Times New Roman" panose="02020603050405020304" pitchFamily="18" charset="0"/>
                      </a:endParaRPr>
                    </a:p>
                  </a:txBody>
                  <a:tcPr anchor="ctr"/>
                </a:tc>
                <a:tc>
                  <a:txBody>
                    <a:bodyPr/>
                    <a:lstStyle/>
                    <a:p>
                      <a:r>
                        <a:rPr lang="en-US" sz="1800">
                          <a:latin typeface="Times New Roman" panose="02020603050405020304" pitchFamily="18" charset="0"/>
                          <a:cs typeface="Times New Roman" panose="02020603050405020304" pitchFamily="18" charset="0"/>
                        </a:rPr>
                        <a:t>The system shall be usable via both GUI and command-line interfaces.</a:t>
                      </a:r>
                      <a:endParaRPr lang="en-US" sz="1800">
                        <a:latin typeface="Times New Roman" panose="02020603050405020304" pitchFamily="18" charset="0"/>
                        <a:cs typeface="Times New Roman" panose="02020603050405020304" pitchFamily="18" charset="0"/>
                      </a:endParaRPr>
                    </a:p>
                  </a:txBody>
                  <a:tcPr anchor="ctr"/>
                </a:tc>
              </a:tr>
              <a:tr h="791443">
                <a:tc>
                  <a:txBody>
                    <a:bodyPr/>
                    <a:lstStyle/>
                    <a:p>
                      <a:r>
                        <a:rPr lang="en-IN" sz="1800">
                          <a:latin typeface="Times New Roman" panose="02020603050405020304" pitchFamily="18" charset="0"/>
                          <a:cs typeface="Times New Roman" panose="02020603050405020304" pitchFamily="18" charset="0"/>
                        </a:rPr>
                        <a:t>NFR5</a:t>
                      </a:r>
                      <a:endParaRPr lang="en-IN" sz="1800">
                        <a:latin typeface="Times New Roman" panose="02020603050405020304" pitchFamily="18" charset="0"/>
                        <a:cs typeface="Times New Roman" panose="02020603050405020304" pitchFamily="18" charset="0"/>
                      </a:endParaRPr>
                    </a:p>
                  </a:txBody>
                  <a:tcPr anchor="ctr"/>
                </a:tc>
                <a:tc>
                  <a:txBody>
                    <a:bodyPr/>
                    <a:lstStyle/>
                    <a:p>
                      <a:r>
                        <a:rPr lang="en-US" sz="1800">
                          <a:latin typeface="Times New Roman" panose="02020603050405020304" pitchFamily="18" charset="0"/>
                          <a:cs typeface="Times New Roman" panose="02020603050405020304" pitchFamily="18" charset="0"/>
                        </a:rPr>
                        <a:t>The system shall be scalable to support real-time URL analysis (optional upgrade).</a:t>
                      </a:r>
                      <a:endParaRPr lang="en-US" sz="1800">
                        <a:latin typeface="Times New Roman" panose="02020603050405020304" pitchFamily="18" charset="0"/>
                        <a:cs typeface="Times New Roman" panose="02020603050405020304" pitchFamily="18" charset="0"/>
                      </a:endParaRPr>
                    </a:p>
                  </a:txBody>
                  <a:tcPr anchor="ctr"/>
                </a:tc>
              </a:tr>
              <a:tr h="791443">
                <a:tc>
                  <a:txBody>
                    <a:bodyPr/>
                    <a:lstStyle/>
                    <a:p>
                      <a:r>
                        <a:rPr lang="en-IN" sz="1800">
                          <a:latin typeface="Times New Roman" panose="02020603050405020304" pitchFamily="18" charset="0"/>
                          <a:cs typeface="Times New Roman" panose="02020603050405020304" pitchFamily="18" charset="0"/>
                        </a:rPr>
                        <a:t>NFR6</a:t>
                      </a:r>
                      <a:endParaRPr lang="en-IN" sz="1800">
                        <a:latin typeface="Times New Roman" panose="02020603050405020304" pitchFamily="18" charset="0"/>
                        <a:cs typeface="Times New Roman" panose="02020603050405020304" pitchFamily="18" charset="0"/>
                      </a:endParaRPr>
                    </a:p>
                  </a:txBody>
                  <a:tcPr anchor="ctr"/>
                </a:tc>
                <a:tc>
                  <a:txBody>
                    <a:bodyPr/>
                    <a:lstStyle/>
                    <a:p>
                      <a:r>
                        <a:rPr lang="en-US" sz="1800" dirty="0">
                          <a:latin typeface="Times New Roman" panose="02020603050405020304" pitchFamily="18" charset="0"/>
                          <a:cs typeface="Times New Roman" panose="02020603050405020304" pitchFamily="18" charset="0"/>
                        </a:rPr>
                        <a:t>The system shall support multilingual interface for Indian languages (if integrated with Bhashini).</a:t>
                      </a:r>
                      <a:endParaRPr lang="en-US" sz="1800" dirty="0">
                        <a:latin typeface="Times New Roman" panose="02020603050405020304" pitchFamily="18" charset="0"/>
                        <a:cs typeface="Times New Roman" panose="02020603050405020304" pitchFamily="18" charset="0"/>
                      </a:endParaRPr>
                    </a:p>
                  </a:txBody>
                  <a:tcPr anchor="ct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0" y="0"/>
            <a:ext cx="10884090" cy="844197"/>
          </a:xfrm>
          <a:prstGeom prst="rect">
            <a:avLst/>
          </a:prstGeom>
          <a:solidFill>
            <a:srgbClr val="002060"/>
          </a:solidFill>
        </p:spPr>
        <p:txBody>
          <a:bodyPr/>
          <a:lstStyle/>
          <a:p>
            <a:pPr marL="0" marR="0" lvl="0" indent="0" algn="l" defTabSz="914400" rtl="0" eaLnBrk="1" fontAlgn="auto" latinLnBrk="0" hangingPunct="1">
              <a:lnSpc>
                <a:spcPct val="90000"/>
              </a:lnSpc>
              <a:spcBef>
                <a:spcPct val="0"/>
              </a:spcBef>
              <a:spcAft>
                <a:spcPts val="0"/>
              </a:spcAft>
              <a:buClrTx/>
              <a:buSzTx/>
              <a:buFontTx/>
              <a:buNone/>
              <a:defRPr/>
            </a:pPr>
            <a:r>
              <a:rPr lang="en-IN" sz="4400" b="1" dirty="0">
                <a:ln>
                  <a:solidFill>
                    <a:schemeClr val="bg1"/>
                  </a:solidFill>
                </a:ln>
                <a:solidFill>
                  <a:schemeClr val="bg1"/>
                </a:solidFill>
                <a:latin typeface="Times New Roman" panose="02020603050405020304" pitchFamily="18" charset="0"/>
                <a:ea typeface="+mj-ea"/>
                <a:cs typeface="Times New Roman" panose="02020603050405020304" pitchFamily="18" charset="0"/>
              </a:rPr>
              <a:t>System Architecture</a:t>
            </a:r>
            <a:r>
              <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rPr>
              <a:t> </a:t>
            </a:r>
            <a:endPar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endParaRPr>
          </a:p>
        </p:txBody>
      </p:sp>
      <p:sp>
        <p:nvSpPr>
          <p:cNvPr id="3" name="TextBox 2"/>
          <p:cNvSpPr txBox="1"/>
          <p:nvPr/>
        </p:nvSpPr>
        <p:spPr>
          <a:xfrm>
            <a:off x="144695" y="844197"/>
            <a:ext cx="5396295" cy="5493812"/>
          </a:xfrm>
          <a:prstGeom prst="rect">
            <a:avLst/>
          </a:prstGeom>
          <a:noFill/>
        </p:spPr>
        <p:txBody>
          <a:bodyPr wrap="square" rtlCol="0">
            <a:spAutoFit/>
          </a:bodyPr>
          <a:lstStyle/>
          <a:p>
            <a:pPr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Data Collection</a:t>
            </a:r>
            <a:r>
              <a:rPr lang="en-US" dirty="0">
                <a:latin typeface="Times New Roman" panose="02020603050405020304" pitchFamily="18" charset="0"/>
                <a:cs typeface="Times New Roman" panose="02020603050405020304" pitchFamily="18" charset="0"/>
              </a:rPr>
              <a:t>: Gather a dataset with features like URL characteristics, content-based features, and behavioral patterns.</a:t>
            </a:r>
            <a:endParaRPr lang="en-US"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Preprocessing</a:t>
            </a:r>
            <a:r>
              <a:rPr lang="en-US" dirty="0">
                <a:latin typeface="Times New Roman" panose="02020603050405020304" pitchFamily="18" charset="0"/>
                <a:cs typeface="Times New Roman" panose="02020603050405020304" pitchFamily="18" charset="0"/>
              </a:rPr>
              <a:t>: Clean, encode, and split the dataset.</a:t>
            </a:r>
            <a:endParaRPr lang="en-US"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Association Rule Mining</a:t>
            </a:r>
            <a:r>
              <a:rPr lang="en-US" dirty="0">
                <a:latin typeface="Times New Roman" panose="02020603050405020304" pitchFamily="18" charset="0"/>
                <a:cs typeface="Times New Roman" panose="02020603050405020304" pitchFamily="18" charset="0"/>
              </a:rPr>
              <a:t>: Use FP-Growth to generate rules.</a:t>
            </a:r>
            <a:endParaRPr lang="en-US"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Rule-Based Classification</a:t>
            </a:r>
            <a:r>
              <a:rPr lang="en-US" dirty="0">
                <a:latin typeface="Times New Roman" panose="02020603050405020304" pitchFamily="18" charset="0"/>
                <a:cs typeface="Times New Roman" panose="02020603050405020304" pitchFamily="18" charset="0"/>
              </a:rPr>
              <a:t>: Use the rules to classify instances.</a:t>
            </a:r>
            <a:endParaRPr lang="en-US"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Evaluation</a:t>
            </a:r>
            <a:r>
              <a:rPr lang="en-US" dirty="0">
                <a:latin typeface="Times New Roman" panose="02020603050405020304" pitchFamily="18" charset="0"/>
                <a:cs typeface="Times New Roman" panose="02020603050405020304" pitchFamily="18" charset="0"/>
              </a:rPr>
              <a:t>: Test the model and measure performance using accuracy, precision, recall, and F1-score.</a:t>
            </a:r>
            <a:endParaRPr lang="en-US"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Deployment</a:t>
            </a:r>
            <a:r>
              <a:rPr lang="en-US" dirty="0">
                <a:latin typeface="Times New Roman" panose="02020603050405020304" pitchFamily="18" charset="0"/>
                <a:cs typeface="Times New Roman" panose="02020603050405020304" pitchFamily="18" charset="0"/>
              </a:rPr>
              <a:t>: Implement the model in a real-world e-banking system.</a:t>
            </a:r>
            <a:endParaRPr lang="en-US"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sp>
        <p:nvSpPr>
          <p:cNvPr id="4" name="TextBox 3"/>
          <p:cNvSpPr txBox="1"/>
          <p:nvPr/>
        </p:nvSpPr>
        <p:spPr>
          <a:xfrm>
            <a:off x="0" y="6538912"/>
            <a:ext cx="12192000" cy="369332"/>
          </a:xfrm>
          <a:prstGeom prst="rect">
            <a:avLst/>
          </a:prstGeom>
          <a:solidFill>
            <a:srgbClr val="002060"/>
          </a:solidFill>
        </p:spPr>
        <p:txBody>
          <a:bodyPr wrap="square" rtlCol="0">
            <a:spAutoFit/>
          </a:bodyPr>
          <a:lstStyle/>
          <a:p>
            <a:r>
              <a:rPr lang="en-IN" dirty="0">
                <a:ln>
                  <a:solidFill>
                    <a:schemeClr val="bg1"/>
                  </a:solidFill>
                </a:ln>
                <a:solidFill>
                  <a:schemeClr val="bg1"/>
                </a:solidFill>
              </a:rPr>
              <a:t>Dept. of ISE, SVIT                                                                                                                                                                                     </a:t>
            </a:r>
            <a:fld id="{A779D412-7551-4DA0-A19D-519BB8214474}" type="slidenum">
              <a:rPr lang="en-IN" smtClean="0">
                <a:ln>
                  <a:solidFill>
                    <a:schemeClr val="bg1"/>
                  </a:solidFill>
                </a:ln>
                <a:solidFill>
                  <a:schemeClr val="bg1"/>
                </a:solidFill>
              </a:rPr>
            </a:fld>
            <a:endParaRPr lang="en-IN" dirty="0">
              <a:ln>
                <a:solidFill>
                  <a:schemeClr val="bg1"/>
                </a:solidFill>
              </a:ln>
              <a:solidFill>
                <a:schemeClr val="bg1"/>
              </a:solidFill>
            </a:endParaRPr>
          </a:p>
        </p:txBody>
      </p:sp>
      <p:pic>
        <p:nvPicPr>
          <p:cNvPr id="5" name="Picture 4"/>
          <p:cNvPicPr>
            <a:picLocks noChangeAspect="1"/>
          </p:cNvPicPr>
          <p:nvPr/>
        </p:nvPicPr>
        <p:blipFill>
          <a:blip r:embed="rId1" cstate="print"/>
          <a:stretch>
            <a:fillRect/>
          </a:stretch>
        </p:blipFill>
        <p:spPr>
          <a:xfrm>
            <a:off x="11117035" y="11809"/>
            <a:ext cx="1074965" cy="1074965"/>
          </a:xfrm>
          <a:prstGeom prst="rect">
            <a:avLst/>
          </a:prstGeom>
        </p:spPr>
      </p:pic>
      <p:pic>
        <p:nvPicPr>
          <p:cNvPr id="7" name="Picture 6"/>
          <p:cNvPicPr>
            <a:picLocks noChangeAspect="1"/>
          </p:cNvPicPr>
          <p:nvPr/>
        </p:nvPicPr>
        <p:blipFill>
          <a:blip r:embed="rId2"/>
          <a:srcRect t="2251" r="8030"/>
          <a:stretch>
            <a:fillRect/>
          </a:stretch>
        </p:blipFill>
        <p:spPr>
          <a:xfrm>
            <a:off x="6395926" y="1026089"/>
            <a:ext cx="4788414" cy="53345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0" y="0"/>
            <a:ext cx="12192000" cy="828675"/>
          </a:xfrm>
          <a:prstGeom prst="rect">
            <a:avLst/>
          </a:prstGeom>
          <a:solidFill>
            <a:srgbClr val="002060"/>
          </a:solidFill>
        </p:spPr>
        <p:txBody>
          <a:bodyPr/>
          <a:lstStyle/>
          <a:p>
            <a:pPr marL="0" marR="0" lvl="0" indent="0" algn="l" defTabSz="914400" rtl="0" eaLnBrk="1" fontAlgn="auto" latinLnBrk="0" hangingPunct="1">
              <a:lnSpc>
                <a:spcPct val="90000"/>
              </a:lnSpc>
              <a:spcBef>
                <a:spcPct val="0"/>
              </a:spcBef>
              <a:spcAft>
                <a:spcPts val="0"/>
              </a:spcAft>
              <a:buClrTx/>
              <a:buSzTx/>
              <a:buFontTx/>
              <a:buNone/>
              <a:defRPr/>
            </a:pPr>
            <a:r>
              <a:rPr lang="en-IN" sz="4400" b="1" dirty="0">
                <a:ln>
                  <a:solidFill>
                    <a:schemeClr val="bg1"/>
                  </a:solidFill>
                </a:ln>
                <a:solidFill>
                  <a:schemeClr val="bg1"/>
                </a:solidFill>
                <a:latin typeface="Times New Roman" panose="02020603050405020304" pitchFamily="18" charset="0"/>
                <a:ea typeface="+mj-ea"/>
                <a:cs typeface="Times New Roman" panose="02020603050405020304" pitchFamily="18" charset="0"/>
              </a:rPr>
              <a:t>System Architecture</a:t>
            </a:r>
            <a:r>
              <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rPr>
              <a:t> </a:t>
            </a:r>
            <a:endPar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endParaRPr>
          </a:p>
        </p:txBody>
      </p:sp>
      <p:sp>
        <p:nvSpPr>
          <p:cNvPr id="3" name="TextBox 2"/>
          <p:cNvSpPr txBox="1"/>
          <p:nvPr/>
        </p:nvSpPr>
        <p:spPr>
          <a:xfrm>
            <a:off x="144695" y="844197"/>
            <a:ext cx="5396295" cy="5493812"/>
          </a:xfrm>
          <a:prstGeom prst="rect">
            <a:avLst/>
          </a:prstGeom>
          <a:noFill/>
        </p:spPr>
        <p:txBody>
          <a:bodyPr wrap="square" rtlCol="0">
            <a:spAutoFit/>
          </a:bodyPr>
          <a:lstStyle/>
          <a:p>
            <a:pPr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Data Collection</a:t>
            </a:r>
            <a:r>
              <a:rPr lang="en-US" dirty="0">
                <a:latin typeface="Times New Roman" panose="02020603050405020304" pitchFamily="18" charset="0"/>
                <a:cs typeface="Times New Roman" panose="02020603050405020304" pitchFamily="18" charset="0"/>
              </a:rPr>
              <a:t>: Gather a dataset with features like URL characteristics, content-based features, and behavioral patterns.</a:t>
            </a:r>
            <a:endParaRPr lang="en-US"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Preprocessing</a:t>
            </a:r>
            <a:r>
              <a:rPr lang="en-US" dirty="0">
                <a:latin typeface="Times New Roman" panose="02020603050405020304" pitchFamily="18" charset="0"/>
                <a:cs typeface="Times New Roman" panose="02020603050405020304" pitchFamily="18" charset="0"/>
              </a:rPr>
              <a:t>: Clean, encode, and split the dataset.</a:t>
            </a:r>
            <a:endParaRPr lang="en-US"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Association Rule Mining</a:t>
            </a:r>
            <a:r>
              <a:rPr lang="en-US" dirty="0">
                <a:latin typeface="Times New Roman" panose="02020603050405020304" pitchFamily="18" charset="0"/>
                <a:cs typeface="Times New Roman" panose="02020603050405020304" pitchFamily="18" charset="0"/>
              </a:rPr>
              <a:t>: Use FP-Growth to generate rules.</a:t>
            </a:r>
            <a:endParaRPr lang="en-US"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Rule-Based Classification</a:t>
            </a:r>
            <a:r>
              <a:rPr lang="en-US" dirty="0">
                <a:latin typeface="Times New Roman" panose="02020603050405020304" pitchFamily="18" charset="0"/>
                <a:cs typeface="Times New Roman" panose="02020603050405020304" pitchFamily="18" charset="0"/>
              </a:rPr>
              <a:t>: Use the rules to classify instances.</a:t>
            </a:r>
            <a:endParaRPr lang="en-US"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Evaluation</a:t>
            </a:r>
            <a:r>
              <a:rPr lang="en-US" dirty="0">
                <a:latin typeface="Times New Roman" panose="02020603050405020304" pitchFamily="18" charset="0"/>
                <a:cs typeface="Times New Roman" panose="02020603050405020304" pitchFamily="18" charset="0"/>
              </a:rPr>
              <a:t>: Test the model and measure performance using accuracy, precision, recall, and F1-score.</a:t>
            </a:r>
            <a:endParaRPr lang="en-US"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Deployment</a:t>
            </a:r>
            <a:r>
              <a:rPr lang="en-US" dirty="0">
                <a:latin typeface="Times New Roman" panose="02020603050405020304" pitchFamily="18" charset="0"/>
                <a:cs typeface="Times New Roman" panose="02020603050405020304" pitchFamily="18" charset="0"/>
              </a:rPr>
              <a:t>: Implement the model in a real-world e-banking system.</a:t>
            </a:r>
            <a:endParaRPr lang="en-US"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sp>
        <p:nvSpPr>
          <p:cNvPr id="4" name="TextBox 3"/>
          <p:cNvSpPr txBox="1"/>
          <p:nvPr/>
        </p:nvSpPr>
        <p:spPr>
          <a:xfrm>
            <a:off x="0" y="6538912"/>
            <a:ext cx="12192000" cy="368300"/>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fld id="{A779D412-7551-4DA0-A19D-519BB8214474}" type="slidenum">
              <a:rPr lang="en-IN" smtClean="0">
                <a:ln>
                  <a:solidFill>
                    <a:schemeClr val="bg1"/>
                  </a:solidFill>
                </a:ln>
                <a:solidFill>
                  <a:schemeClr val="bg1"/>
                </a:solidFill>
              </a:rPr>
            </a:fld>
            <a:endParaRPr lang="en-IN" dirty="0">
              <a:ln>
                <a:solidFill>
                  <a:schemeClr val="bg1"/>
                </a:solidFill>
              </a:ln>
              <a:solidFill>
                <a:schemeClr val="bg1"/>
              </a:solidFill>
            </a:endParaRPr>
          </a:p>
        </p:txBody>
      </p:sp>
      <p:pic>
        <p:nvPicPr>
          <p:cNvPr id="7" name="Picture 6"/>
          <p:cNvPicPr>
            <a:picLocks noChangeAspect="1"/>
          </p:cNvPicPr>
          <p:nvPr/>
        </p:nvPicPr>
        <p:blipFill>
          <a:blip r:embed="rId1"/>
          <a:srcRect t="2251" r="8030"/>
          <a:stretch>
            <a:fillRect/>
          </a:stretch>
        </p:blipFill>
        <p:spPr>
          <a:xfrm>
            <a:off x="6395926" y="1016758"/>
            <a:ext cx="4788414" cy="533450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0" y="0"/>
            <a:ext cx="12192000" cy="871220"/>
          </a:xfrm>
          <a:prstGeom prst="rect">
            <a:avLst/>
          </a:prstGeom>
          <a:solidFill>
            <a:srgbClr val="002060"/>
          </a:solidFill>
        </p:spPr>
        <p:txBody>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rPr>
              <a:t>System Design</a:t>
            </a:r>
            <a:endPar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endParaRPr>
          </a:p>
        </p:txBody>
      </p:sp>
      <p:sp>
        <p:nvSpPr>
          <p:cNvPr id="3" name="TextBox 2"/>
          <p:cNvSpPr txBox="1"/>
          <p:nvPr/>
        </p:nvSpPr>
        <p:spPr>
          <a:xfrm>
            <a:off x="0" y="6538912"/>
            <a:ext cx="12192000" cy="368300"/>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fld id="{A779D412-7551-4DA0-A19D-519BB8214474}" type="slidenum">
              <a:rPr lang="en-IN" smtClean="0">
                <a:ln>
                  <a:solidFill>
                    <a:schemeClr val="bg1"/>
                  </a:solidFill>
                </a:ln>
                <a:solidFill>
                  <a:schemeClr val="bg1"/>
                </a:solidFill>
              </a:rPr>
            </a:fld>
            <a:endParaRPr lang="en-IN" dirty="0">
              <a:ln>
                <a:solidFill>
                  <a:schemeClr val="bg1"/>
                </a:solidFill>
              </a:ln>
              <a:solidFill>
                <a:schemeClr val="bg1"/>
              </a:solidFill>
            </a:endParaRPr>
          </a:p>
        </p:txBody>
      </p:sp>
      <p:sp>
        <p:nvSpPr>
          <p:cNvPr id="6" name="Content Placeholder 5"/>
          <p:cNvSpPr>
            <a:spLocks noGrp="1"/>
          </p:cNvSpPr>
          <p:nvPr>
            <p:ph idx="1"/>
          </p:nvPr>
        </p:nvSpPr>
        <p:spPr>
          <a:xfrm>
            <a:off x="121298" y="963569"/>
            <a:ext cx="6606074" cy="5483884"/>
          </a:xfrm>
        </p:spPr>
        <p:txBody>
          <a:bodyPr>
            <a:normAutofit/>
          </a:bodyPr>
          <a:lstStyle/>
          <a:p>
            <a:pPr algn="just">
              <a:buFont typeface="+mj-lt"/>
              <a:buAutoNum type="arabicPeriod"/>
            </a:pPr>
            <a:r>
              <a:rPr lang="en-US" sz="1800" b="1" dirty="0">
                <a:latin typeface="Times New Roman" panose="02020603050405020304" pitchFamily="18" charset="0"/>
                <a:cs typeface="Times New Roman" panose="02020603050405020304" pitchFamily="18" charset="0"/>
              </a:rPr>
              <a:t>Feature Extraction &amp; Preprocessing</a:t>
            </a:r>
            <a:endParaRPr lang="en-US" sz="1800" dirty="0">
              <a:latin typeface="Times New Roman" panose="02020603050405020304" pitchFamily="18" charset="0"/>
              <a:cs typeface="Times New Roman" panose="02020603050405020304" pitchFamily="18" charset="0"/>
            </a:endParaRPr>
          </a:p>
          <a:p>
            <a:pPr marL="742950" lvl="1" indent="-285750" algn="just"/>
            <a:r>
              <a:rPr lang="en-US" sz="1700" dirty="0">
                <a:latin typeface="Times New Roman" panose="02020603050405020304" pitchFamily="18" charset="0"/>
                <a:cs typeface="Times New Roman" panose="02020603050405020304" pitchFamily="18" charset="0"/>
              </a:rPr>
              <a:t>Collects website URL, HTML content, DNS records, and user behavior data.</a:t>
            </a:r>
            <a:endParaRPr lang="en-US" sz="1700" dirty="0">
              <a:latin typeface="Times New Roman" panose="02020603050405020304" pitchFamily="18" charset="0"/>
              <a:cs typeface="Times New Roman" panose="02020603050405020304" pitchFamily="18" charset="0"/>
            </a:endParaRPr>
          </a:p>
          <a:p>
            <a:pPr marL="742950" lvl="1" indent="-285750" algn="just"/>
            <a:r>
              <a:rPr lang="en-US" sz="1700" dirty="0">
                <a:latin typeface="Times New Roman" panose="02020603050405020304" pitchFamily="18" charset="0"/>
                <a:cs typeface="Times New Roman" panose="02020603050405020304" pitchFamily="18" charset="0"/>
              </a:rPr>
              <a:t>Extracts key phishing indicators (e.g., URL length, SSL status, redirections).</a:t>
            </a:r>
            <a:endParaRPr lang="en-US" sz="1700" dirty="0">
              <a:latin typeface="Times New Roman" panose="02020603050405020304" pitchFamily="18" charset="0"/>
              <a:cs typeface="Times New Roman" panose="02020603050405020304" pitchFamily="18" charset="0"/>
            </a:endParaRPr>
          </a:p>
          <a:p>
            <a:pPr algn="just">
              <a:buFont typeface="+mj-lt"/>
              <a:buAutoNum type="arabicPeriod"/>
            </a:pPr>
            <a:endParaRPr lang="en-US" sz="1800" b="1" dirty="0">
              <a:latin typeface="Times New Roman" panose="02020603050405020304" pitchFamily="18" charset="0"/>
              <a:cs typeface="Times New Roman" panose="02020603050405020304" pitchFamily="18" charset="0"/>
            </a:endParaRPr>
          </a:p>
          <a:p>
            <a:pPr algn="just">
              <a:buFont typeface="+mj-lt"/>
              <a:buAutoNum type="arabicPeriod"/>
            </a:pPr>
            <a:r>
              <a:rPr lang="en-US" sz="1800" b="1" dirty="0">
                <a:latin typeface="Times New Roman" panose="02020603050405020304" pitchFamily="18" charset="0"/>
                <a:cs typeface="Times New Roman" panose="02020603050405020304" pitchFamily="18" charset="0"/>
              </a:rPr>
              <a:t>Classification Using Machine Learning</a:t>
            </a:r>
            <a:endParaRPr lang="en-US" sz="1800" dirty="0">
              <a:latin typeface="Times New Roman" panose="02020603050405020304" pitchFamily="18" charset="0"/>
              <a:cs typeface="Times New Roman" panose="02020603050405020304" pitchFamily="18" charset="0"/>
            </a:endParaRPr>
          </a:p>
          <a:p>
            <a:pPr marL="742950" lvl="1" indent="-285750" algn="just"/>
            <a:r>
              <a:rPr lang="en-US" sz="1700" dirty="0">
                <a:latin typeface="Times New Roman" panose="02020603050405020304" pitchFamily="18" charset="0"/>
                <a:cs typeface="Times New Roman" panose="02020603050405020304" pitchFamily="18" charset="0"/>
              </a:rPr>
              <a:t>Uses model like Random Forest to classify websites as phishing or legitimate</a:t>
            </a:r>
            <a:r>
              <a:rPr lang="en-US" sz="1800" dirty="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pPr marL="457200" lvl="1" indent="0" algn="just">
              <a:buNone/>
            </a:pPr>
            <a:endParaRPr lang="en-US" sz="1800" b="1" dirty="0">
              <a:latin typeface="Times New Roman" panose="02020603050405020304" pitchFamily="18" charset="0"/>
              <a:cs typeface="Times New Roman" panose="02020603050405020304" pitchFamily="18" charset="0"/>
            </a:endParaRPr>
          </a:p>
          <a:p>
            <a:pPr algn="just">
              <a:buFont typeface="+mj-lt"/>
              <a:buAutoNum type="arabicPeriod"/>
            </a:pPr>
            <a:r>
              <a:rPr lang="en-US" sz="1800" b="1" dirty="0">
                <a:latin typeface="Times New Roman" panose="02020603050405020304" pitchFamily="18" charset="0"/>
                <a:cs typeface="Times New Roman" panose="02020603050405020304" pitchFamily="18" charset="0"/>
              </a:rPr>
              <a:t>Associative Rule Mining</a:t>
            </a:r>
            <a:endParaRPr lang="en-US" sz="1800" dirty="0">
              <a:latin typeface="Times New Roman" panose="02020603050405020304" pitchFamily="18" charset="0"/>
              <a:cs typeface="Times New Roman" panose="02020603050405020304" pitchFamily="18" charset="0"/>
            </a:endParaRPr>
          </a:p>
          <a:p>
            <a:pPr marL="457200" lvl="1" indent="0" algn="just">
              <a:buNone/>
            </a:pPr>
            <a:r>
              <a:rPr lang="en-US" sz="1700" dirty="0">
                <a:latin typeface="Times New Roman" panose="02020603050405020304" pitchFamily="18" charset="0"/>
                <a:cs typeface="Times New Roman" panose="02020603050405020304" pitchFamily="18" charset="0"/>
              </a:rPr>
              <a:t>FP-Growth algorithms to discover frequent phishing patterns.</a:t>
            </a:r>
            <a:endParaRPr lang="en-US" sz="1700" dirty="0">
              <a:latin typeface="Times New Roman" panose="02020603050405020304" pitchFamily="18" charset="0"/>
              <a:cs typeface="Times New Roman" panose="02020603050405020304" pitchFamily="18" charset="0"/>
            </a:endParaRPr>
          </a:p>
          <a:p>
            <a:pPr algn="just">
              <a:buFont typeface="+mj-lt"/>
              <a:buAutoNum type="arabicPeriod"/>
            </a:pPr>
            <a:r>
              <a:rPr lang="en-US" sz="1800" b="1" dirty="0">
                <a:latin typeface="Times New Roman" panose="02020603050405020304" pitchFamily="18" charset="0"/>
                <a:cs typeface="Times New Roman" panose="02020603050405020304" pitchFamily="18" charset="0"/>
              </a:rPr>
              <a:t>Data Mining for Behavioral Analysis</a:t>
            </a:r>
            <a:endParaRPr lang="en-US" sz="1800" dirty="0">
              <a:latin typeface="Times New Roman" panose="02020603050405020304" pitchFamily="18" charset="0"/>
              <a:cs typeface="Times New Roman" panose="02020603050405020304" pitchFamily="18" charset="0"/>
            </a:endParaRPr>
          </a:p>
          <a:p>
            <a:pPr marL="742950" lvl="1" indent="-285750" algn="just"/>
            <a:r>
              <a:rPr lang="en-US" sz="1800" dirty="0">
                <a:latin typeface="Times New Roman" panose="02020603050405020304" pitchFamily="18" charset="0"/>
                <a:cs typeface="Times New Roman" panose="02020603050405020304" pitchFamily="18" charset="0"/>
              </a:rPr>
              <a:t>Uses clustering (DBSCAN) and anomaly detection to identify suspicious user behavior.</a:t>
            </a:r>
            <a:endParaRPr lang="en-US" sz="1800" dirty="0">
              <a:latin typeface="Times New Roman" panose="02020603050405020304" pitchFamily="18" charset="0"/>
              <a:cs typeface="Times New Roman" panose="02020603050405020304" pitchFamily="18" charset="0"/>
            </a:endParaRPr>
          </a:p>
          <a:p>
            <a:pPr marL="742950" lvl="1" indent="-285750" algn="just"/>
            <a:r>
              <a:rPr lang="en-US" sz="1800" dirty="0">
                <a:latin typeface="Times New Roman" panose="02020603050405020304" pitchFamily="18" charset="0"/>
                <a:cs typeface="Times New Roman" panose="02020603050405020304" pitchFamily="18" charset="0"/>
              </a:rPr>
              <a:t>Helps detect zero-day phishing attacks.</a:t>
            </a:r>
            <a:endParaRPr lang="en-US" sz="1800" dirty="0">
              <a:latin typeface="Times New Roman" panose="02020603050405020304" pitchFamily="18" charset="0"/>
              <a:cs typeface="Times New Roman" panose="02020603050405020304" pitchFamily="18" charset="0"/>
            </a:endParaRPr>
          </a:p>
          <a:p>
            <a:pPr algn="just">
              <a:lnSpc>
                <a:spcPct val="100000"/>
              </a:lnSpc>
            </a:pPr>
            <a:endParaRPr lang="en-IN" sz="1800"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1"/>
          <a:stretch>
            <a:fillRect/>
          </a:stretch>
        </p:blipFill>
        <p:spPr>
          <a:xfrm>
            <a:off x="6805982" y="1618178"/>
            <a:ext cx="5386018" cy="278587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0" y="0"/>
            <a:ext cx="12192000" cy="843915"/>
          </a:xfrm>
          <a:prstGeom prst="rect">
            <a:avLst/>
          </a:prstGeom>
          <a:solidFill>
            <a:srgbClr val="002060"/>
          </a:solidFill>
        </p:spPr>
        <p:txBody>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rPr>
              <a:t>System Design</a:t>
            </a:r>
            <a:endPar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endParaRPr>
          </a:p>
        </p:txBody>
      </p:sp>
      <p:sp>
        <p:nvSpPr>
          <p:cNvPr id="3" name="TextBox 2"/>
          <p:cNvSpPr txBox="1"/>
          <p:nvPr/>
        </p:nvSpPr>
        <p:spPr>
          <a:xfrm>
            <a:off x="0" y="6538912"/>
            <a:ext cx="12192000" cy="368300"/>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fld id="{A779D412-7551-4DA0-A19D-519BB8214474}" type="slidenum">
              <a:rPr lang="en-IN" smtClean="0">
                <a:ln>
                  <a:solidFill>
                    <a:schemeClr val="bg1"/>
                  </a:solidFill>
                </a:ln>
                <a:solidFill>
                  <a:schemeClr val="bg1"/>
                </a:solidFill>
              </a:rPr>
            </a:fld>
            <a:endParaRPr lang="en-IN" dirty="0">
              <a:ln>
                <a:solidFill>
                  <a:schemeClr val="bg1"/>
                </a:solidFill>
              </a:ln>
              <a:solidFill>
                <a:schemeClr val="bg1"/>
              </a:solidFill>
            </a:endParaRPr>
          </a:p>
        </p:txBody>
      </p:sp>
      <p:sp>
        <p:nvSpPr>
          <p:cNvPr id="6" name="Content Placeholder 5"/>
          <p:cNvSpPr>
            <a:spLocks noGrp="1"/>
          </p:cNvSpPr>
          <p:nvPr>
            <p:ph idx="1"/>
          </p:nvPr>
        </p:nvSpPr>
        <p:spPr>
          <a:xfrm>
            <a:off x="121298" y="963569"/>
            <a:ext cx="6606074" cy="5483884"/>
          </a:xfrm>
        </p:spPr>
        <p:txBody>
          <a:bodyPr>
            <a:normAutofit/>
          </a:bodyPr>
          <a:lstStyle/>
          <a:p>
            <a:pPr algn="just">
              <a:lnSpc>
                <a:spcPct val="100000"/>
              </a:lnSpc>
            </a:pPr>
            <a:r>
              <a:rPr lang="en-US" sz="1800" dirty="0">
                <a:latin typeface="Times New Roman" panose="02020603050405020304" pitchFamily="18" charset="0"/>
                <a:cs typeface="Times New Roman" panose="02020603050405020304" pitchFamily="18" charset="0"/>
              </a:rPr>
              <a:t>The phishing detection process flow begins when a user inputs a URL they wish to verify. The system then extracts various features from the URL, such as its length, the presence of special characters, the use of HTTPS, and other relevant attributes that may indicate suspicious activity. These extracted features undergo preprocessing, which includes cleaning and transforming the data into a format suitable for analysis. </a:t>
            </a:r>
            <a:endParaRPr lang="en-US" sz="1800" dirty="0">
              <a:latin typeface="Times New Roman" panose="02020603050405020304" pitchFamily="18" charset="0"/>
              <a:cs typeface="Times New Roman" panose="02020603050405020304" pitchFamily="18" charset="0"/>
            </a:endParaRPr>
          </a:p>
          <a:p>
            <a:pPr algn="just">
              <a:lnSpc>
                <a:spcPct val="100000"/>
              </a:lnSpc>
            </a:pPr>
            <a:r>
              <a:rPr lang="en-US" sz="1800" dirty="0">
                <a:latin typeface="Times New Roman" panose="02020603050405020304" pitchFamily="18" charset="0"/>
                <a:cs typeface="Times New Roman" panose="02020603050405020304" pitchFamily="18" charset="0"/>
              </a:rPr>
              <a:t>Once the preprocessing is complete, a classification algorithm is applied to determine whether the URL is legitimate or a phishing attempt. The process concludes by providing the user with the result of this classification, indicating whether the URL is safe or potentially harmful. </a:t>
            </a:r>
            <a:endParaRPr lang="en-US" sz="1800" dirty="0">
              <a:latin typeface="Times New Roman" panose="02020603050405020304" pitchFamily="18" charset="0"/>
              <a:cs typeface="Times New Roman" panose="02020603050405020304" pitchFamily="18" charset="0"/>
            </a:endParaRPr>
          </a:p>
          <a:p>
            <a:pPr algn="just">
              <a:lnSpc>
                <a:spcPct val="100000"/>
              </a:lnSpc>
            </a:pPr>
            <a:r>
              <a:rPr lang="en-US" sz="1800" dirty="0">
                <a:latin typeface="Times New Roman" panose="02020603050405020304" pitchFamily="18" charset="0"/>
                <a:cs typeface="Times New Roman" panose="02020603050405020304" pitchFamily="18" charset="0"/>
              </a:rPr>
              <a:t>This structured flow ensures an automated and systematic approach to phishing detection.</a:t>
            </a:r>
            <a:endParaRPr lang="en-IN" dirty="0">
              <a:latin typeface="Times New Roman" panose="02020603050405020304" pitchFamily="18" charset="0"/>
              <a:cs typeface="Times New Roman" panose="02020603050405020304" pitchFamily="18" charset="0"/>
            </a:endParaRPr>
          </a:p>
        </p:txBody>
      </p:sp>
      <p:pic>
        <p:nvPicPr>
          <p:cNvPr id="5" name="Content Placeholder 4"/>
          <p:cNvPicPr>
            <a:picLocks noChangeAspect="1"/>
          </p:cNvPicPr>
          <p:nvPr/>
        </p:nvPicPr>
        <p:blipFill>
          <a:blip r:embed="rId1"/>
          <a:stretch>
            <a:fillRect/>
          </a:stretch>
        </p:blipFill>
        <p:spPr>
          <a:xfrm>
            <a:off x="7089477" y="1525216"/>
            <a:ext cx="4766621" cy="435133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0" y="0"/>
            <a:ext cx="12192000" cy="872490"/>
          </a:xfrm>
          <a:prstGeom prst="rect">
            <a:avLst/>
          </a:prstGeom>
          <a:solidFill>
            <a:srgbClr val="002060"/>
          </a:solidFill>
        </p:spPr>
        <p:txBody>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rPr>
              <a:t>System Design</a:t>
            </a:r>
            <a:endPar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endParaRPr>
          </a:p>
        </p:txBody>
      </p:sp>
      <p:sp>
        <p:nvSpPr>
          <p:cNvPr id="3" name="TextBox 2"/>
          <p:cNvSpPr txBox="1"/>
          <p:nvPr/>
        </p:nvSpPr>
        <p:spPr>
          <a:xfrm>
            <a:off x="0" y="6538912"/>
            <a:ext cx="12192000" cy="368300"/>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fld id="{A779D412-7551-4DA0-A19D-519BB8214474}" type="slidenum">
              <a:rPr lang="en-IN" smtClean="0">
                <a:ln>
                  <a:solidFill>
                    <a:schemeClr val="bg1"/>
                  </a:solidFill>
                </a:ln>
                <a:solidFill>
                  <a:schemeClr val="bg1"/>
                </a:solidFill>
              </a:rPr>
            </a:fld>
            <a:endParaRPr lang="en-IN" dirty="0">
              <a:ln>
                <a:solidFill>
                  <a:schemeClr val="bg1"/>
                </a:solidFill>
              </a:ln>
              <a:solidFill>
                <a:schemeClr val="bg1"/>
              </a:solidFill>
            </a:endParaRPr>
          </a:p>
        </p:txBody>
      </p:sp>
      <p:sp>
        <p:nvSpPr>
          <p:cNvPr id="6" name="Content Placeholder 5"/>
          <p:cNvSpPr>
            <a:spLocks noGrp="1"/>
          </p:cNvSpPr>
          <p:nvPr>
            <p:ph idx="1"/>
          </p:nvPr>
        </p:nvSpPr>
        <p:spPr>
          <a:xfrm>
            <a:off x="121299" y="963569"/>
            <a:ext cx="6113470" cy="5483884"/>
          </a:xfrm>
        </p:spPr>
        <p:txBody>
          <a:bodyPr>
            <a:normAutofit/>
          </a:bodyPr>
          <a:lstStyle/>
          <a:p>
            <a:pPr algn="just">
              <a:lnSpc>
                <a:spcPct val="100000"/>
              </a:lnSpc>
            </a:pPr>
            <a:r>
              <a:rPr lang="en-US" sz="1800" dirty="0">
                <a:latin typeface="Times New Roman" panose="02020603050405020304" pitchFamily="18" charset="0"/>
                <a:cs typeface="Times New Roman" panose="02020603050405020304" pitchFamily="18" charset="0"/>
              </a:rPr>
              <a:t>The diagram illustrates the interaction between users, an admin, and a phishing detection system known as the Detection Engine. In this setup, the user submits a URL or input to the Detection Engine, which processes the data and returns the classification result—indicating whether the input is legitimate or a phishing attempt. </a:t>
            </a:r>
            <a:endParaRPr lang="en-US" sz="1800" dirty="0">
              <a:latin typeface="Times New Roman" panose="02020603050405020304" pitchFamily="18" charset="0"/>
              <a:cs typeface="Times New Roman" panose="02020603050405020304" pitchFamily="18" charset="0"/>
            </a:endParaRPr>
          </a:p>
          <a:p>
            <a:pPr algn="just">
              <a:lnSpc>
                <a:spcPct val="100000"/>
              </a:lnSpc>
            </a:pPr>
            <a:r>
              <a:rPr lang="en-US" sz="1800" dirty="0">
                <a:latin typeface="Times New Roman" panose="02020603050405020304" pitchFamily="18" charset="0"/>
                <a:cs typeface="Times New Roman" panose="02020603050405020304" pitchFamily="18" charset="0"/>
              </a:rPr>
              <a:t>On the other side, the admin is responsible for maintaining and improving the system by uploading datasets, which are used to train or update the detection engine. These datasets typically contain labeled examples of phishing and legitimate URLs. Overall, the diagram shows a collaborative model where users receive detection services, and admins ensure the system remains accurate and updated. </a:t>
            </a:r>
            <a:endParaRPr lang="en-IN"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1"/>
          <a:stretch>
            <a:fillRect/>
          </a:stretch>
        </p:blipFill>
        <p:spPr>
          <a:xfrm>
            <a:off x="6522099" y="1211120"/>
            <a:ext cx="5456840" cy="500744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0" y="0"/>
            <a:ext cx="12192000" cy="911225"/>
          </a:xfrm>
          <a:prstGeom prst="rect">
            <a:avLst/>
          </a:prstGeom>
          <a:solidFill>
            <a:srgbClr val="002060"/>
          </a:solidFill>
        </p:spPr>
        <p:txBody>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rPr>
              <a:t>System Design</a:t>
            </a:r>
            <a:endPar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endParaRPr>
          </a:p>
        </p:txBody>
      </p:sp>
      <p:sp>
        <p:nvSpPr>
          <p:cNvPr id="3" name="TextBox 2"/>
          <p:cNvSpPr txBox="1"/>
          <p:nvPr/>
        </p:nvSpPr>
        <p:spPr>
          <a:xfrm>
            <a:off x="0" y="6538912"/>
            <a:ext cx="12192000" cy="368300"/>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fld id="{A779D412-7551-4DA0-A19D-519BB8214474}" type="slidenum">
              <a:rPr lang="en-IN" smtClean="0">
                <a:ln>
                  <a:solidFill>
                    <a:schemeClr val="bg1"/>
                  </a:solidFill>
                </a:ln>
                <a:solidFill>
                  <a:schemeClr val="bg1"/>
                </a:solidFill>
              </a:rPr>
            </a:fld>
            <a:endParaRPr lang="en-IN" dirty="0">
              <a:ln>
                <a:solidFill>
                  <a:schemeClr val="bg1"/>
                </a:solidFill>
              </a:ln>
              <a:solidFill>
                <a:schemeClr val="bg1"/>
              </a:solidFill>
            </a:endParaRPr>
          </a:p>
        </p:txBody>
      </p:sp>
      <p:sp>
        <p:nvSpPr>
          <p:cNvPr id="6" name="Content Placeholder 5"/>
          <p:cNvSpPr>
            <a:spLocks noGrp="1"/>
          </p:cNvSpPr>
          <p:nvPr>
            <p:ph idx="1"/>
          </p:nvPr>
        </p:nvSpPr>
        <p:spPr>
          <a:xfrm>
            <a:off x="121298" y="1086773"/>
            <a:ext cx="7380514" cy="5360679"/>
          </a:xfrm>
        </p:spPr>
        <p:txBody>
          <a:bodyPr>
            <a:normAutofit/>
          </a:bodyPr>
          <a:lstStyle/>
          <a:p>
            <a:pPr algn="just">
              <a:lnSpc>
                <a:spcPct val="100000"/>
              </a:lnSpc>
            </a:pPr>
            <a:r>
              <a:rPr lang="en-IN" sz="1800" dirty="0">
                <a:latin typeface="Times New Roman" panose="02020603050405020304" pitchFamily="18" charset="0"/>
                <a:cs typeface="Times New Roman" panose="02020603050405020304" pitchFamily="18" charset="0"/>
              </a:rPr>
              <a:t>This process begins with users entering the </a:t>
            </a:r>
            <a:r>
              <a:rPr lang="en-IN" sz="1800" dirty="0" err="1">
                <a:latin typeface="Times New Roman" panose="02020603050405020304" pitchFamily="18" charset="0"/>
                <a:cs typeface="Times New Roman" panose="02020603050405020304" pitchFamily="18" charset="0"/>
              </a:rPr>
              <a:t>url</a:t>
            </a:r>
            <a:r>
              <a:rPr lang="en-IN" sz="1800" dirty="0">
                <a:latin typeface="Times New Roman" panose="02020603050405020304" pitchFamily="18" charset="0"/>
                <a:cs typeface="Times New Roman" panose="02020603050405020304" pitchFamily="18" charset="0"/>
              </a:rPr>
              <a:t> into the graphical user interface.</a:t>
            </a:r>
            <a:endParaRPr lang="en-IN" sz="1800" dirty="0">
              <a:latin typeface="Times New Roman" panose="02020603050405020304" pitchFamily="18" charset="0"/>
              <a:cs typeface="Times New Roman" panose="02020603050405020304" pitchFamily="18" charset="0"/>
            </a:endParaRPr>
          </a:p>
          <a:p>
            <a:pPr algn="just">
              <a:lnSpc>
                <a:spcPct val="100000"/>
              </a:lnSpc>
            </a:pPr>
            <a:r>
              <a:rPr lang="en-IN" sz="1800" dirty="0">
                <a:latin typeface="Times New Roman" panose="02020603050405020304" pitchFamily="18" charset="0"/>
                <a:cs typeface="Times New Roman" panose="02020603050405020304" pitchFamily="18" charset="0"/>
              </a:rPr>
              <a:t>The GUI then triggers a function called </a:t>
            </a:r>
            <a:r>
              <a:rPr lang="en-IN" sz="1800" dirty="0" err="1">
                <a:latin typeface="Times New Roman" panose="02020603050405020304" pitchFamily="18" charset="0"/>
                <a:cs typeface="Times New Roman" panose="02020603050405020304" pitchFamily="18" charset="0"/>
              </a:rPr>
              <a:t>scanned_ui</a:t>
            </a:r>
            <a:r>
              <a:rPr lang="en-IN" sz="1800" dirty="0">
                <a:latin typeface="Times New Roman" panose="02020603050405020304" pitchFamily="18" charset="0"/>
                <a:cs typeface="Times New Roman" panose="02020603050405020304" pitchFamily="18" charset="0"/>
              </a:rPr>
              <a:t>(),which sends the input to the </a:t>
            </a:r>
            <a:r>
              <a:rPr lang="en-IN" sz="1800" dirty="0" err="1">
                <a:latin typeface="Times New Roman" panose="02020603050405020304" pitchFamily="18" charset="0"/>
                <a:cs typeface="Times New Roman" panose="02020603050405020304" pitchFamily="18" charset="0"/>
              </a:rPr>
              <a:t>URLScanner</a:t>
            </a:r>
            <a:r>
              <a:rPr lang="en-IN" sz="1800" dirty="0">
                <a:latin typeface="Times New Roman" panose="02020603050405020304" pitchFamily="18" charset="0"/>
                <a:cs typeface="Times New Roman" panose="02020603050405020304" pitchFamily="18" charset="0"/>
              </a:rPr>
              <a:t> .</a:t>
            </a:r>
            <a:endParaRPr lang="en-IN" sz="1800" dirty="0">
              <a:latin typeface="Times New Roman" panose="02020603050405020304" pitchFamily="18" charset="0"/>
              <a:cs typeface="Times New Roman" panose="02020603050405020304" pitchFamily="18" charset="0"/>
            </a:endParaRPr>
          </a:p>
          <a:p>
            <a:pPr algn="just">
              <a:lnSpc>
                <a:spcPct val="100000"/>
              </a:lnSpc>
            </a:pPr>
            <a:r>
              <a:rPr lang="en-IN" sz="1800" dirty="0">
                <a:latin typeface="Times New Roman" panose="02020603050405020304" pitchFamily="18" charset="0"/>
                <a:cs typeface="Times New Roman" panose="02020603050405020304" pitchFamily="18" charset="0"/>
              </a:rPr>
              <a:t>The </a:t>
            </a:r>
            <a:r>
              <a:rPr lang="en-IN" sz="1800" dirty="0" err="1">
                <a:latin typeface="Times New Roman" panose="02020603050405020304" pitchFamily="18" charset="0"/>
                <a:cs typeface="Times New Roman" panose="02020603050405020304" pitchFamily="18" charset="0"/>
              </a:rPr>
              <a:t>URLScanner</a:t>
            </a:r>
            <a:r>
              <a:rPr lang="en-IN" sz="1800" dirty="0">
                <a:latin typeface="Times New Roman" panose="02020603050405020304" pitchFamily="18" charset="0"/>
                <a:cs typeface="Times New Roman" panose="02020603050405020304" pitchFamily="18" charset="0"/>
              </a:rPr>
              <a:t> in turn calls the </a:t>
            </a:r>
            <a:r>
              <a:rPr lang="en-IN" sz="1800" dirty="0" err="1">
                <a:latin typeface="Times New Roman" panose="02020603050405020304" pitchFamily="18" charset="0"/>
                <a:cs typeface="Times New Roman" panose="02020603050405020304" pitchFamily="18" charset="0"/>
              </a:rPr>
              <a:t>extract_feature</a:t>
            </a:r>
            <a:r>
              <a:rPr lang="en-IN" sz="1800" dirty="0">
                <a:latin typeface="Times New Roman" panose="02020603050405020304" pitchFamily="18" charset="0"/>
                <a:cs typeface="Times New Roman" panose="02020603050405020304" pitchFamily="18" charset="0"/>
              </a:rPr>
              <a:t>() function from the </a:t>
            </a:r>
            <a:r>
              <a:rPr lang="en-IN" sz="1800" dirty="0" err="1">
                <a:latin typeface="Times New Roman" panose="02020603050405020304" pitchFamily="18" charset="0"/>
                <a:cs typeface="Times New Roman" panose="02020603050405020304" pitchFamily="18" charset="0"/>
              </a:rPr>
              <a:t>phising</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classifier,where</a:t>
            </a:r>
            <a:r>
              <a:rPr lang="en-IN" sz="1800" dirty="0">
                <a:latin typeface="Times New Roman" panose="02020603050405020304" pitchFamily="18" charset="0"/>
                <a:cs typeface="Times New Roman" panose="02020603050405020304" pitchFamily="18" charset="0"/>
              </a:rPr>
              <a:t> various features of the URL are </a:t>
            </a:r>
            <a:r>
              <a:rPr lang="en-IN" sz="1800" dirty="0" err="1">
                <a:latin typeface="Times New Roman" panose="02020603050405020304" pitchFamily="18" charset="0"/>
                <a:cs typeface="Times New Roman" panose="02020603050405020304" pitchFamily="18" charset="0"/>
              </a:rPr>
              <a:t>analyzed</a:t>
            </a:r>
            <a:r>
              <a:rPr lang="en-IN"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p>
            <a:pPr algn="just">
              <a:lnSpc>
                <a:spcPct val="100000"/>
              </a:lnSpc>
            </a:pPr>
            <a:r>
              <a:rPr lang="en-IN" sz="1800" dirty="0">
                <a:latin typeface="Times New Roman" panose="02020603050405020304" pitchFamily="18" charset="0"/>
                <a:cs typeface="Times New Roman" panose="02020603050405020304" pitchFamily="18" charset="0"/>
              </a:rPr>
              <a:t>These features are then passed to the PhisingClassifierEngine via the </a:t>
            </a:r>
            <a:r>
              <a:rPr lang="en-IN" sz="1800" dirty="0" err="1">
                <a:latin typeface="Times New Roman" panose="02020603050405020304" pitchFamily="18" charset="0"/>
                <a:cs typeface="Times New Roman" panose="02020603050405020304" pitchFamily="18" charset="0"/>
              </a:rPr>
              <a:t>predict_class</a:t>
            </a:r>
            <a:r>
              <a:rPr lang="en-IN" sz="1800" dirty="0">
                <a:latin typeface="Times New Roman" panose="02020603050405020304" pitchFamily="18" charset="0"/>
                <a:cs typeface="Times New Roman" panose="02020603050405020304" pitchFamily="18" charset="0"/>
              </a:rPr>
              <a:t>() method, which uses a machine learning model to determine </a:t>
            </a:r>
            <a:r>
              <a:rPr lang="en-IN" sz="1800" dirty="0" err="1">
                <a:latin typeface="Times New Roman" panose="02020603050405020304" pitchFamily="18" charset="0"/>
                <a:cs typeface="Times New Roman" panose="02020603050405020304" pitchFamily="18" charset="0"/>
              </a:rPr>
              <a:t>whteher</a:t>
            </a:r>
            <a:r>
              <a:rPr lang="en-IN" sz="1800" dirty="0">
                <a:latin typeface="Times New Roman" panose="02020603050405020304" pitchFamily="18" charset="0"/>
                <a:cs typeface="Times New Roman" panose="02020603050405020304" pitchFamily="18" charset="0"/>
              </a:rPr>
              <a:t> the URL is phishing or legitimate.</a:t>
            </a:r>
            <a:endParaRPr lang="en-IN" sz="1800" dirty="0">
              <a:latin typeface="Times New Roman" panose="02020603050405020304" pitchFamily="18" charset="0"/>
              <a:cs typeface="Times New Roman" panose="02020603050405020304" pitchFamily="18" charset="0"/>
            </a:endParaRPr>
          </a:p>
          <a:p>
            <a:pPr algn="just">
              <a:lnSpc>
                <a:spcPct val="100000"/>
              </a:lnSpc>
            </a:pPr>
            <a:r>
              <a:rPr lang="en-IN" sz="1800" dirty="0">
                <a:latin typeface="Times New Roman" panose="02020603050405020304" pitchFamily="18" charset="0"/>
                <a:cs typeface="Times New Roman" panose="02020603050405020304" pitchFamily="18" charset="0"/>
              </a:rPr>
              <a:t>The result is retuned step-by-step back through the Phisingclassifier and URL Scanner to the GUI, where it is displayed to the user.</a:t>
            </a:r>
            <a:endParaRPr lang="en-IN" sz="1800" dirty="0">
              <a:latin typeface="Times New Roman" panose="02020603050405020304" pitchFamily="18" charset="0"/>
              <a:cs typeface="Times New Roman" panose="02020603050405020304" pitchFamily="18" charset="0"/>
            </a:endParaRPr>
          </a:p>
        </p:txBody>
      </p:sp>
      <p:pic>
        <p:nvPicPr>
          <p:cNvPr id="5" name="Content Placeholder 4"/>
          <p:cNvPicPr>
            <a:picLocks noChangeAspect="1"/>
          </p:cNvPicPr>
          <p:nvPr/>
        </p:nvPicPr>
        <p:blipFill>
          <a:blip r:embed="rId1"/>
          <a:stretch>
            <a:fillRect/>
          </a:stretch>
        </p:blipFill>
        <p:spPr>
          <a:xfrm>
            <a:off x="7572026" y="1515885"/>
            <a:ext cx="4498675" cy="318674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0" y="12065"/>
            <a:ext cx="12192000" cy="881380"/>
          </a:xfrm>
          <a:prstGeom prst="rect">
            <a:avLst/>
          </a:prstGeom>
          <a:solidFill>
            <a:srgbClr val="002060"/>
          </a:solidFill>
        </p:spPr>
        <p:txBody>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rPr>
              <a:t>System Design</a:t>
            </a:r>
            <a:endPar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endParaRPr>
          </a:p>
        </p:txBody>
      </p:sp>
      <p:sp>
        <p:nvSpPr>
          <p:cNvPr id="3" name="TextBox 2"/>
          <p:cNvSpPr txBox="1"/>
          <p:nvPr/>
        </p:nvSpPr>
        <p:spPr>
          <a:xfrm>
            <a:off x="0" y="6538912"/>
            <a:ext cx="12192000" cy="368300"/>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fld id="{A779D412-7551-4DA0-A19D-519BB8214474}" type="slidenum">
              <a:rPr lang="en-IN" smtClean="0">
                <a:ln>
                  <a:solidFill>
                    <a:schemeClr val="bg1"/>
                  </a:solidFill>
                </a:ln>
                <a:solidFill>
                  <a:schemeClr val="bg1"/>
                </a:solidFill>
              </a:rPr>
            </a:fld>
            <a:endParaRPr lang="en-IN" dirty="0">
              <a:ln>
                <a:solidFill>
                  <a:schemeClr val="bg1"/>
                </a:solidFill>
              </a:ln>
              <a:solidFill>
                <a:schemeClr val="bg1"/>
              </a:solidFill>
            </a:endParaRPr>
          </a:p>
        </p:txBody>
      </p:sp>
      <p:pic>
        <p:nvPicPr>
          <p:cNvPr id="7" name="Picture 6"/>
          <p:cNvPicPr>
            <a:picLocks noChangeAspect="1"/>
          </p:cNvPicPr>
          <p:nvPr/>
        </p:nvPicPr>
        <p:blipFill>
          <a:blip r:embed="rId1"/>
          <a:stretch>
            <a:fillRect/>
          </a:stretch>
        </p:blipFill>
        <p:spPr>
          <a:xfrm>
            <a:off x="3466322" y="1570950"/>
            <a:ext cx="5259356" cy="351082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0" y="12065"/>
            <a:ext cx="12192000" cy="843915"/>
          </a:xfrm>
          <a:prstGeom prst="rect">
            <a:avLst/>
          </a:prstGeom>
          <a:solidFill>
            <a:srgbClr val="002060"/>
          </a:solidFill>
        </p:spPr>
        <p:txBody>
          <a:bodyPr/>
          <a:lstStyle/>
          <a:p>
            <a:pPr lvl="0">
              <a:lnSpc>
                <a:spcPct val="90000"/>
              </a:lnSpc>
              <a:spcBef>
                <a:spcPct val="0"/>
              </a:spcBef>
              <a:defRPr/>
            </a:pPr>
            <a:r>
              <a:rPr lang="en-IN" sz="4400" b="1" dirty="0">
                <a:ln>
                  <a:solidFill>
                    <a:schemeClr val="bg1"/>
                  </a:solidFill>
                </a:ln>
                <a:solidFill>
                  <a:schemeClr val="bg1"/>
                </a:solidFill>
                <a:latin typeface="Times New Roman" panose="02020603050405020304" pitchFamily="18" charset="0"/>
                <a:cs typeface="Times New Roman" panose="02020603050405020304" pitchFamily="18" charset="0"/>
              </a:rPr>
              <a:t>PROJECT MODULES</a:t>
            </a:r>
            <a:endPar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endParaRPr>
          </a:p>
        </p:txBody>
      </p:sp>
      <p:sp>
        <p:nvSpPr>
          <p:cNvPr id="3" name="TextBox 2"/>
          <p:cNvSpPr txBox="1"/>
          <p:nvPr/>
        </p:nvSpPr>
        <p:spPr>
          <a:xfrm>
            <a:off x="0" y="6538912"/>
            <a:ext cx="12192000" cy="368300"/>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fld id="{A779D412-7551-4DA0-A19D-519BB8214474}" type="slidenum">
              <a:rPr lang="en-IN" smtClean="0">
                <a:ln>
                  <a:solidFill>
                    <a:schemeClr val="bg1"/>
                  </a:solidFill>
                </a:ln>
                <a:solidFill>
                  <a:schemeClr val="bg1"/>
                </a:solidFill>
              </a:rPr>
            </a:fld>
            <a:endParaRPr lang="en-IN" dirty="0">
              <a:ln>
                <a:solidFill>
                  <a:schemeClr val="bg1"/>
                </a:solidFill>
              </a:ln>
              <a:solidFill>
                <a:schemeClr val="bg1"/>
              </a:solidFill>
            </a:endParaRPr>
          </a:p>
        </p:txBody>
      </p:sp>
      <p:sp>
        <p:nvSpPr>
          <p:cNvPr id="6" name="TextBox 5"/>
          <p:cNvSpPr txBox="1"/>
          <p:nvPr/>
        </p:nvSpPr>
        <p:spPr>
          <a:xfrm>
            <a:off x="261258" y="1021460"/>
            <a:ext cx="4935894" cy="4801314"/>
          </a:xfrm>
          <a:prstGeom prst="rect">
            <a:avLst/>
          </a:prstGeom>
          <a:noFill/>
        </p:spPr>
        <p:txBody>
          <a:bodyPr wrap="square">
            <a:spAutoFit/>
          </a:bodyPr>
          <a:lstStyle/>
          <a:p>
            <a:pPr marL="0" indent="0">
              <a:buNone/>
            </a:pPr>
            <a:r>
              <a:rPr lang="en-IN" sz="1800" b="1" dirty="0">
                <a:latin typeface="Times New Roman" panose="02020603050405020304" pitchFamily="18" charset="0"/>
                <a:cs typeface="Times New Roman" panose="02020603050405020304" pitchFamily="18" charset="0"/>
              </a:rPr>
              <a:t>Module 1: Data Collection</a:t>
            </a:r>
            <a:r>
              <a:rPr lang="en-IN" b="1" dirty="0">
                <a:latin typeface="Times New Roman" panose="02020603050405020304" pitchFamily="18" charset="0"/>
                <a:cs typeface="Times New Roman" panose="02020603050405020304" pitchFamily="18" charset="0"/>
              </a:rPr>
              <a:t>  </a:t>
            </a:r>
            <a:endParaRPr lang="en-IN" sz="1800" b="1"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Gather datasets of phishing &amp; legitimate e-banking websites.</a:t>
            </a: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b="1" dirty="0">
                <a:latin typeface="Times New Roman" panose="02020603050405020304" pitchFamily="18" charset="0"/>
                <a:cs typeface="Times New Roman" panose="02020603050405020304" pitchFamily="18" charset="0"/>
              </a:rPr>
              <a:t>Module 2: Data Preprocessing</a:t>
            </a:r>
            <a:endParaRPr lang="en-IN" sz="1800" b="1" dirty="0">
              <a:latin typeface="Times New Roman" panose="02020603050405020304" pitchFamily="18" charset="0"/>
              <a:cs typeface="Times New Roman" panose="02020603050405020304" pitchFamily="18" charset="0"/>
            </a:endParaRPr>
          </a:p>
          <a:p>
            <a:pPr marL="0" indent="0">
              <a:lnSpc>
                <a:spcPct val="100000"/>
              </a:lnSpc>
              <a:buNone/>
            </a:pPr>
            <a:r>
              <a:rPr lang="en-IN" sz="1800" dirty="0">
                <a:latin typeface="Times New Roman" panose="02020603050405020304" pitchFamily="18" charset="0"/>
                <a:cs typeface="Times New Roman" panose="02020603050405020304" pitchFamily="18" charset="0"/>
              </a:rPr>
              <a:t>Clean and normalize raw data (URLs, HTML, SSL, WHOIS).</a:t>
            </a:r>
            <a:endParaRPr lang="en-IN" sz="1800" dirty="0">
              <a:latin typeface="Times New Roman" panose="02020603050405020304" pitchFamily="18" charset="0"/>
              <a:cs typeface="Times New Roman" panose="02020603050405020304" pitchFamily="18" charset="0"/>
            </a:endParaRPr>
          </a:p>
          <a:p>
            <a:pPr marL="0" indent="0">
              <a:lnSpc>
                <a:spcPct val="100000"/>
              </a:lnSpc>
              <a:buNone/>
            </a:pPr>
            <a:r>
              <a:rPr lang="en-IN" sz="1800" dirty="0">
                <a:latin typeface="Times New Roman" panose="02020603050405020304" pitchFamily="18" charset="0"/>
                <a:cs typeface="Times New Roman" panose="02020603050405020304" pitchFamily="18" charset="0"/>
              </a:rPr>
              <a:t>Convert raw features into numerical/binary form suitable for training.</a:t>
            </a:r>
            <a:endParaRPr lang="en-IN" sz="1800" dirty="0">
              <a:latin typeface="Times New Roman" panose="02020603050405020304" pitchFamily="18" charset="0"/>
              <a:cs typeface="Times New Roman" panose="02020603050405020304" pitchFamily="18" charset="0"/>
            </a:endParaRPr>
          </a:p>
          <a:p>
            <a:pPr marL="0" indent="0">
              <a:lnSpc>
                <a:spcPct val="100000"/>
              </a:lnSpc>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b="1" dirty="0">
                <a:latin typeface="Times New Roman" panose="02020603050405020304" pitchFamily="18" charset="0"/>
                <a:cs typeface="Times New Roman" panose="02020603050405020304" pitchFamily="18" charset="0"/>
              </a:rPr>
              <a:t>Module 3: Feature Extraction</a:t>
            </a:r>
            <a:endParaRPr lang="en-IN" sz="1800" b="1" dirty="0">
              <a:latin typeface="Times New Roman" panose="02020603050405020304" pitchFamily="18" charset="0"/>
              <a:cs typeface="Times New Roman" panose="02020603050405020304" pitchFamily="18" charset="0"/>
            </a:endParaRPr>
          </a:p>
          <a:p>
            <a:pPr marL="0" indent="0">
              <a:buNone/>
            </a:pPr>
            <a:r>
              <a:rPr lang="en-IN" sz="1800" b="1" dirty="0">
                <a:latin typeface="Times New Roman" panose="02020603050405020304" pitchFamily="18" charset="0"/>
                <a:cs typeface="Times New Roman" panose="02020603050405020304" pitchFamily="18" charset="0"/>
              </a:rPr>
              <a:t>URL Features</a:t>
            </a:r>
            <a:r>
              <a:rPr lang="en-IN" sz="1800" dirty="0">
                <a:latin typeface="Times New Roman" panose="02020603050405020304" pitchFamily="18" charset="0"/>
                <a:cs typeface="Times New Roman" panose="02020603050405020304" pitchFamily="18" charset="0"/>
              </a:rPr>
              <a:t>: length, special symbols (@, “-”), subdomains, IP in domain.</a:t>
            </a:r>
            <a:endParaRPr lang="en-IN" sz="1800" dirty="0">
              <a:latin typeface="Times New Roman" panose="02020603050405020304" pitchFamily="18" charset="0"/>
              <a:cs typeface="Times New Roman" panose="02020603050405020304" pitchFamily="18" charset="0"/>
            </a:endParaRPr>
          </a:p>
          <a:p>
            <a:pPr marL="0" indent="0">
              <a:buNone/>
            </a:pPr>
            <a:r>
              <a:rPr lang="en-IN" sz="1800" b="1" dirty="0">
                <a:latin typeface="Times New Roman" panose="02020603050405020304" pitchFamily="18" charset="0"/>
                <a:cs typeface="Times New Roman" panose="02020603050405020304" pitchFamily="18" charset="0"/>
              </a:rPr>
              <a:t>Content Features</a:t>
            </a:r>
            <a:r>
              <a:rPr lang="en-IN" sz="1800" dirty="0">
                <a:latin typeface="Times New Roman" panose="02020603050405020304" pitchFamily="18" charset="0"/>
                <a:cs typeface="Times New Roman" panose="02020603050405020304" pitchFamily="18" charset="0"/>
              </a:rPr>
              <a:t>: forms, scripts, </a:t>
            </a:r>
            <a:r>
              <a:rPr lang="en-IN" sz="1800" dirty="0" err="1">
                <a:latin typeface="Times New Roman" panose="02020603050405020304" pitchFamily="18" charset="0"/>
                <a:cs typeface="Times New Roman" panose="02020603050405020304" pitchFamily="18" charset="0"/>
              </a:rPr>
              <a:t>iframes</a:t>
            </a:r>
            <a:r>
              <a:rPr lang="en-IN" sz="1800" dirty="0">
                <a:latin typeface="Times New Roman" panose="02020603050405020304" pitchFamily="18" charset="0"/>
                <a:cs typeface="Times New Roman" panose="02020603050405020304" pitchFamily="18" charset="0"/>
              </a:rPr>
              <a:t>, favicon, login requests.</a:t>
            </a:r>
            <a:endParaRPr lang="en-IN" sz="1800" dirty="0">
              <a:latin typeface="Times New Roman" panose="02020603050405020304" pitchFamily="18" charset="0"/>
              <a:cs typeface="Times New Roman" panose="02020603050405020304" pitchFamily="18" charset="0"/>
            </a:endParaRPr>
          </a:p>
          <a:p>
            <a:pPr marL="0" indent="0">
              <a:buNone/>
            </a:pPr>
            <a:r>
              <a:rPr lang="en-IN" sz="1800" b="1" dirty="0">
                <a:latin typeface="Times New Roman" panose="02020603050405020304" pitchFamily="18" charset="0"/>
                <a:cs typeface="Times New Roman" panose="02020603050405020304" pitchFamily="18" charset="0"/>
              </a:rPr>
              <a:t>Security Features</a:t>
            </a:r>
            <a:r>
              <a:rPr lang="en-IN" sz="1800" dirty="0">
                <a:latin typeface="Times New Roman" panose="02020603050405020304" pitchFamily="18" charset="0"/>
                <a:cs typeface="Times New Roman" panose="02020603050405020304" pitchFamily="18" charset="0"/>
              </a:rPr>
              <a:t>: SSL certificate validity, domain age, WHOIS info.</a:t>
            </a:r>
            <a:endParaRPr lang="en-IN" sz="18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393093" y="1086775"/>
            <a:ext cx="6095325" cy="4524315"/>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Module 4: Model Training</a:t>
            </a:r>
            <a:endParaRPr lang="en-IN" b="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Split dataset into training &amp; testing sets.</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Train machine learning models: </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Deep learning.</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Hugging Face model.</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Use training data to build classification model.</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Module 5: Model Evaluation</a:t>
            </a:r>
            <a:endParaRPr lang="en-IN" b="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Evaluate models using metrics: Accuracy, Precision.</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Module 6: Phishing Detection System</a:t>
            </a:r>
            <a:endParaRPr lang="en-IN" b="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Integrate trained model into detection pipeline.</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Input:</a:t>
            </a:r>
            <a:r>
              <a:rPr lang="en-IN"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New website/URL → Preprocessing → Features → Model Prediction.</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Output</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Phishing</a:t>
            </a:r>
            <a:r>
              <a:rPr lang="en-IN" dirty="0">
                <a:latin typeface="Times New Roman" panose="02020603050405020304" pitchFamily="18" charset="0"/>
                <a:cs typeface="Times New Roman" panose="02020603050405020304" pitchFamily="18" charset="0"/>
              </a:rPr>
              <a:t> or </a:t>
            </a:r>
            <a:r>
              <a:rPr lang="en-IN" i="1" dirty="0">
                <a:latin typeface="Times New Roman" panose="02020603050405020304" pitchFamily="18" charset="0"/>
                <a:cs typeface="Times New Roman" panose="02020603050405020304" pitchFamily="18" charset="0"/>
              </a:rPr>
              <a:t>Legitimate</a:t>
            </a:r>
            <a:r>
              <a:rPr lang="en-IN"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2540" y="0"/>
            <a:ext cx="12189460" cy="843915"/>
          </a:xfrm>
          <a:prstGeom prst="rect">
            <a:avLst/>
          </a:prstGeom>
          <a:solidFill>
            <a:srgbClr val="002060"/>
          </a:solidFill>
        </p:spPr>
        <p:txBody>
          <a:bodyPr/>
          <a:lstStyle/>
          <a:p>
            <a:pPr lvl="0">
              <a:lnSpc>
                <a:spcPct val="90000"/>
              </a:lnSpc>
              <a:spcBef>
                <a:spcPct val="0"/>
              </a:spcBef>
              <a:defRPr/>
            </a:pPr>
            <a:r>
              <a:rPr lang="en-IN" sz="4400" b="1" dirty="0">
                <a:ln>
                  <a:solidFill>
                    <a:schemeClr val="bg1"/>
                  </a:solidFill>
                </a:ln>
                <a:solidFill>
                  <a:schemeClr val="bg1"/>
                </a:solidFill>
                <a:latin typeface="Times New Roman" panose="02020603050405020304" pitchFamily="18" charset="0"/>
                <a:ea typeface="+mj-ea"/>
                <a:cs typeface="Times New Roman" panose="02020603050405020304" pitchFamily="18" charset="0"/>
              </a:rPr>
              <a:t>DESIGN ALGORITHMS</a:t>
            </a:r>
            <a:endPar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endParaRPr>
          </a:p>
        </p:txBody>
      </p:sp>
      <p:sp>
        <p:nvSpPr>
          <p:cNvPr id="3" name="TextBox 2"/>
          <p:cNvSpPr txBox="1"/>
          <p:nvPr/>
        </p:nvSpPr>
        <p:spPr>
          <a:xfrm>
            <a:off x="0" y="6538912"/>
            <a:ext cx="12192000" cy="368300"/>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fld id="{A779D412-7551-4DA0-A19D-519BB8214474}" type="slidenum">
              <a:rPr lang="en-IN" smtClean="0">
                <a:ln>
                  <a:solidFill>
                    <a:schemeClr val="bg1"/>
                  </a:solidFill>
                </a:ln>
                <a:solidFill>
                  <a:schemeClr val="bg1"/>
                </a:solidFill>
              </a:rPr>
            </a:fld>
            <a:endParaRPr lang="en-IN" dirty="0">
              <a:ln>
                <a:solidFill>
                  <a:schemeClr val="bg1"/>
                </a:solidFill>
              </a:ln>
              <a:solidFill>
                <a:schemeClr val="bg1"/>
              </a:solidFill>
            </a:endParaRPr>
          </a:p>
        </p:txBody>
      </p:sp>
      <p:sp>
        <p:nvSpPr>
          <p:cNvPr id="7" name="TextBox 6"/>
          <p:cNvSpPr txBox="1"/>
          <p:nvPr/>
        </p:nvSpPr>
        <p:spPr>
          <a:xfrm>
            <a:off x="0" y="1660849"/>
            <a:ext cx="6298163" cy="2031325"/>
          </a:xfrm>
          <a:prstGeom prst="rect">
            <a:avLst/>
          </a:prstGeom>
          <a:noFill/>
        </p:spPr>
        <p:txBody>
          <a:bodyPr wrap="square">
            <a:spAutoFit/>
          </a:bodyPr>
          <a:lstStyle/>
          <a:p>
            <a:pPr marL="285750" indent="-285750">
              <a:buFont typeface="Wingdings" panose="05000000000000000000" pitchFamily="2" charset="2"/>
              <a:buChar char="Ø"/>
            </a:pPr>
            <a:r>
              <a:rPr lang="en-US" sz="1800" b="1" dirty="0" err="1">
                <a:latin typeface="Times New Roman" panose="02020603050405020304" pitchFamily="18" charset="0"/>
                <a:cs typeface="Times New Roman" panose="02020603050405020304" pitchFamily="18" charset="0"/>
              </a:rPr>
              <a:t>RoBERTa</a:t>
            </a:r>
            <a:r>
              <a:rPr lang="en-US" sz="1800" b="1" dirty="0">
                <a:latin typeface="Times New Roman" panose="02020603050405020304" pitchFamily="18" charset="0"/>
                <a:cs typeface="Times New Roman" panose="02020603050405020304" pitchFamily="18" charset="0"/>
              </a:rPr>
              <a:t> (Robustly Optimized BERT Pretraining  Approach)</a:t>
            </a:r>
            <a:endParaRPr lang="en-US" sz="18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sz="1800" b="1" dirty="0">
              <a:latin typeface="Times New Roman" panose="02020603050405020304" pitchFamily="18" charset="0"/>
              <a:cs typeface="Times New Roman" panose="02020603050405020304" pitchFamily="18" charset="0"/>
            </a:endParaRPr>
          </a:p>
          <a:p>
            <a:pPr marL="285750" indent="-285750">
              <a:buFont typeface="Courier New" panose="02070309020205020404" pitchFamily="49" charset="0"/>
              <a:buChar char="o"/>
            </a:pPr>
            <a:r>
              <a:rPr lang="en-US" sz="1800" dirty="0">
                <a:latin typeface="Times New Roman" panose="02020603050405020304" pitchFamily="18" charset="0"/>
                <a:cs typeface="Times New Roman" panose="02020603050405020304" pitchFamily="18" charset="0"/>
              </a:rPr>
              <a:t>It uses </a:t>
            </a:r>
            <a:r>
              <a:rPr lang="en-US" sz="1800" dirty="0" err="1">
                <a:latin typeface="Times New Roman" panose="02020603050405020304" pitchFamily="18" charset="0"/>
                <a:cs typeface="Times New Roman" panose="02020603050405020304" pitchFamily="18" charset="0"/>
              </a:rPr>
              <a:t>RoBERTa</a:t>
            </a:r>
            <a:r>
              <a:rPr lang="en-US" sz="1800" dirty="0">
                <a:latin typeface="Times New Roman" panose="02020603050405020304" pitchFamily="18" charset="0"/>
                <a:cs typeface="Times New Roman" panose="02020603050405020304" pitchFamily="18" charset="0"/>
              </a:rPr>
              <a:t>, which is a transformer-based language model developed by Facebook AI. </a:t>
            </a:r>
            <a:r>
              <a:rPr lang="en-US" sz="1800" dirty="0" err="1">
                <a:latin typeface="Times New Roman" panose="02020603050405020304" pitchFamily="18" charset="0"/>
                <a:cs typeface="Times New Roman" panose="02020603050405020304" pitchFamily="18" charset="0"/>
              </a:rPr>
              <a:t>RoBERTa</a:t>
            </a:r>
            <a:r>
              <a:rPr lang="en-US" sz="1800" dirty="0">
                <a:latin typeface="Times New Roman" panose="02020603050405020304" pitchFamily="18" charset="0"/>
                <a:cs typeface="Times New Roman" panose="02020603050405020304" pitchFamily="18" charset="0"/>
              </a:rPr>
              <a:t> is an optimized version of BERT (Bidirectional Encoder Representations from Transformers).</a:t>
            </a:r>
            <a:endParaRPr lang="en-US" sz="1800"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1"/>
          <a:stretch>
            <a:fillRect/>
          </a:stretch>
        </p:blipFill>
        <p:spPr>
          <a:xfrm>
            <a:off x="195944" y="4086808"/>
            <a:ext cx="5664978" cy="1670180"/>
          </a:xfrm>
          <a:prstGeom prst="rect">
            <a:avLst/>
          </a:prstGeom>
        </p:spPr>
      </p:pic>
      <p:sp>
        <p:nvSpPr>
          <p:cNvPr id="12" name="TextBox 11"/>
          <p:cNvSpPr txBox="1"/>
          <p:nvPr/>
        </p:nvSpPr>
        <p:spPr>
          <a:xfrm>
            <a:off x="6214188" y="1660849"/>
            <a:ext cx="5430416" cy="2308324"/>
          </a:xfrm>
          <a:prstGeom prst="rect">
            <a:avLst/>
          </a:prstGeom>
          <a:noFill/>
        </p:spPr>
        <p:txBody>
          <a:bodyPr wrap="square">
            <a:spAutoFit/>
          </a:bodyPr>
          <a:lstStyle/>
          <a:p>
            <a:pPr marL="285750" indent="-285750">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Martin-ha/toxic-comment-model</a:t>
            </a:r>
            <a:endParaRPr lang="en-IN"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It is designed for toxic comment classification.</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Input: </a:t>
            </a:r>
            <a:r>
              <a:rPr lang="en-US" dirty="0">
                <a:latin typeface="Times New Roman" panose="02020603050405020304" pitchFamily="18" charset="0"/>
                <a:cs typeface="Times New Roman" panose="02020603050405020304" pitchFamily="18" charset="0"/>
              </a:rPr>
              <a:t>A text/comment (for example, from social media, forums, or chat).</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Output: </a:t>
            </a:r>
            <a:r>
              <a:rPr lang="en-US" dirty="0">
                <a:latin typeface="Times New Roman" panose="02020603050405020304" pitchFamily="18" charset="0"/>
                <a:cs typeface="Times New Roman" panose="02020603050405020304" pitchFamily="18" charset="0"/>
              </a:rPr>
              <a:t>Labels like toxic, obscene, insult, threat, identity hate, sexual explicit, etc.</a:t>
            </a:r>
            <a:endParaRPr lang="en-US" dirty="0">
              <a:latin typeface="Times New Roman" panose="02020603050405020304" pitchFamily="18" charset="0"/>
              <a:cs typeface="Times New Roman" panose="02020603050405020304" pitchFamily="18" charset="0"/>
            </a:endParaRPr>
          </a:p>
        </p:txBody>
      </p:sp>
      <p:pic>
        <p:nvPicPr>
          <p:cNvPr id="13" name="Picture 12"/>
          <p:cNvPicPr>
            <a:picLocks noChangeAspect="1"/>
          </p:cNvPicPr>
          <p:nvPr/>
        </p:nvPicPr>
        <p:blipFill>
          <a:blip r:embed="rId2"/>
          <a:stretch>
            <a:fillRect/>
          </a:stretch>
        </p:blipFill>
        <p:spPr>
          <a:xfrm>
            <a:off x="6331080" y="4213785"/>
            <a:ext cx="5589995" cy="1421905"/>
          </a:xfrm>
          <a:prstGeom prst="rect">
            <a:avLst/>
          </a:prstGeom>
        </p:spPr>
      </p:pic>
      <p:cxnSp>
        <p:nvCxnSpPr>
          <p:cNvPr id="17" name="Straight Connector 16"/>
          <p:cNvCxnSpPr/>
          <p:nvPr/>
        </p:nvCxnSpPr>
        <p:spPr>
          <a:xfrm>
            <a:off x="6096000" y="844197"/>
            <a:ext cx="118188" cy="569471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2540" y="0"/>
            <a:ext cx="12189460" cy="835025"/>
          </a:xfrm>
          <a:prstGeom prst="rect">
            <a:avLst/>
          </a:prstGeom>
          <a:solidFill>
            <a:srgbClr val="002060"/>
          </a:solidFill>
        </p:spPr>
        <p:txBody>
          <a:bodyPr/>
          <a:lstStyle/>
          <a:p>
            <a:pPr lvl="0">
              <a:lnSpc>
                <a:spcPct val="90000"/>
              </a:lnSpc>
              <a:spcBef>
                <a:spcPct val="0"/>
              </a:spcBef>
              <a:defRPr/>
            </a:pPr>
            <a:r>
              <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rPr>
              <a:t>Testing-Unit Testing</a:t>
            </a:r>
            <a:endPar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endParaRPr>
          </a:p>
        </p:txBody>
      </p:sp>
      <p:sp>
        <p:nvSpPr>
          <p:cNvPr id="3" name="TextBox 2"/>
          <p:cNvSpPr txBox="1"/>
          <p:nvPr/>
        </p:nvSpPr>
        <p:spPr>
          <a:xfrm>
            <a:off x="0" y="6538912"/>
            <a:ext cx="12192000" cy="368300"/>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fld id="{A779D412-7551-4DA0-A19D-519BB8214474}" type="slidenum">
              <a:rPr lang="en-IN" smtClean="0">
                <a:ln>
                  <a:solidFill>
                    <a:schemeClr val="bg1"/>
                  </a:solidFill>
                </a:ln>
                <a:solidFill>
                  <a:schemeClr val="bg1"/>
                </a:solidFill>
              </a:rPr>
            </a:fld>
            <a:endParaRPr lang="en-IN" dirty="0">
              <a:ln>
                <a:solidFill>
                  <a:schemeClr val="bg1"/>
                </a:solidFill>
              </a:ln>
              <a:solidFill>
                <a:schemeClr val="bg1"/>
              </a:solidFill>
            </a:endParaRPr>
          </a:p>
        </p:txBody>
      </p:sp>
      <p:graphicFrame>
        <p:nvGraphicFramePr>
          <p:cNvPr id="5" name="Table 4"/>
          <p:cNvGraphicFramePr>
            <a:graphicFrameLocks noGrp="1"/>
          </p:cNvGraphicFramePr>
          <p:nvPr/>
        </p:nvGraphicFramePr>
        <p:xfrm>
          <a:off x="762878" y="1418254"/>
          <a:ext cx="10021080" cy="4772712"/>
        </p:xfrm>
        <a:graphic>
          <a:graphicData uri="http://schemas.openxmlformats.org/drawingml/2006/table">
            <a:tbl>
              <a:tblPr>
                <a:tableStyleId>{69C7853C-536D-4A76-A0AE-DD22124D55A5}</a:tableStyleId>
              </a:tblPr>
              <a:tblGrid>
                <a:gridCol w="2505270"/>
                <a:gridCol w="2505270"/>
                <a:gridCol w="2505270"/>
                <a:gridCol w="2505270"/>
              </a:tblGrid>
              <a:tr h="289598">
                <a:tc>
                  <a:txBody>
                    <a:bodyPr/>
                    <a:lstStyle/>
                    <a:p>
                      <a:pPr>
                        <a:buNone/>
                      </a:pPr>
                      <a:r>
                        <a:rPr lang="en-IN" sz="1300" b="1"/>
                        <a:t>Test Case ID</a:t>
                      </a:r>
                      <a:endParaRPr lang="en-IN" sz="1300"/>
                    </a:p>
                  </a:txBody>
                  <a:tcPr marL="65929" marR="65929" marT="32965" marB="32965" anchor="ctr"/>
                </a:tc>
                <a:tc>
                  <a:txBody>
                    <a:bodyPr/>
                    <a:lstStyle/>
                    <a:p>
                      <a:pPr>
                        <a:buNone/>
                      </a:pPr>
                      <a:r>
                        <a:rPr lang="en-IN" sz="1300" b="1"/>
                        <a:t>Input URL</a:t>
                      </a:r>
                      <a:endParaRPr lang="en-IN" sz="1300"/>
                    </a:p>
                  </a:txBody>
                  <a:tcPr marL="65929" marR="65929" marT="32965" marB="32965" anchor="ctr"/>
                </a:tc>
                <a:tc>
                  <a:txBody>
                    <a:bodyPr/>
                    <a:lstStyle/>
                    <a:p>
                      <a:pPr>
                        <a:buNone/>
                      </a:pPr>
                      <a:r>
                        <a:rPr lang="en-IN" sz="1300" b="1"/>
                        <a:t>Description</a:t>
                      </a:r>
                      <a:endParaRPr lang="en-IN" sz="1300"/>
                    </a:p>
                  </a:txBody>
                  <a:tcPr marL="65929" marR="65929" marT="32965" marB="32965" anchor="ctr"/>
                </a:tc>
                <a:tc>
                  <a:txBody>
                    <a:bodyPr/>
                    <a:lstStyle/>
                    <a:p>
                      <a:pPr>
                        <a:buNone/>
                      </a:pPr>
                      <a:r>
                        <a:rPr lang="en-IN" sz="1300" b="1"/>
                        <a:t>Expected Result</a:t>
                      </a:r>
                      <a:endParaRPr lang="en-IN" sz="1300"/>
                    </a:p>
                  </a:txBody>
                  <a:tcPr marL="65929" marR="65929" marT="32965" marB="32965" anchor="ctr"/>
                </a:tc>
              </a:tr>
              <a:tr h="506158">
                <a:tc>
                  <a:txBody>
                    <a:bodyPr/>
                    <a:lstStyle/>
                    <a:p>
                      <a:pPr>
                        <a:buNone/>
                      </a:pPr>
                      <a:r>
                        <a:rPr lang="en-IN" sz="1300" dirty="0"/>
                        <a:t>URL-01</a:t>
                      </a:r>
                      <a:endParaRPr lang="en-IN" sz="1300" dirty="0"/>
                    </a:p>
                  </a:txBody>
                  <a:tcPr marL="65929" marR="65929" marT="32965" marB="32965" anchor="ctr"/>
                </a:tc>
                <a:tc>
                  <a:txBody>
                    <a:bodyPr/>
                    <a:lstStyle/>
                    <a:p>
                      <a:pPr>
                        <a:buNone/>
                      </a:pPr>
                      <a:r>
                        <a:rPr lang="en-IN" sz="1300"/>
                        <a:t>https://www.mybank.com/login</a:t>
                      </a:r>
                      <a:endParaRPr lang="en-IN" sz="1300"/>
                    </a:p>
                  </a:txBody>
                  <a:tcPr marL="65929" marR="65929" marT="32965" marB="32965" anchor="ctr"/>
                </a:tc>
                <a:tc>
                  <a:txBody>
                    <a:bodyPr/>
                    <a:lstStyle/>
                    <a:p>
                      <a:pPr>
                        <a:buNone/>
                      </a:pPr>
                      <a:r>
                        <a:rPr lang="en-IN" sz="1300"/>
                        <a:t>Legitimate bank domain</a:t>
                      </a:r>
                      <a:endParaRPr lang="en-IN" sz="1300"/>
                    </a:p>
                  </a:txBody>
                  <a:tcPr marL="65929" marR="65929" marT="32965" marB="32965" anchor="ctr"/>
                </a:tc>
                <a:tc>
                  <a:txBody>
                    <a:bodyPr/>
                    <a:lstStyle/>
                    <a:p>
                      <a:pPr>
                        <a:buNone/>
                      </a:pPr>
                      <a:r>
                        <a:rPr lang="en-IN" sz="1300" b="1"/>
                        <a:t>Not Phishing</a:t>
                      </a:r>
                      <a:endParaRPr lang="en-IN" sz="1300"/>
                    </a:p>
                  </a:txBody>
                  <a:tcPr marL="65929" marR="65929" marT="32965" marB="32965" anchor="ctr"/>
                </a:tc>
              </a:tr>
              <a:tr h="506158">
                <a:tc>
                  <a:txBody>
                    <a:bodyPr/>
                    <a:lstStyle/>
                    <a:p>
                      <a:pPr>
                        <a:buNone/>
                      </a:pPr>
                      <a:r>
                        <a:rPr lang="en-IN" sz="1300"/>
                        <a:t>URL-02</a:t>
                      </a:r>
                      <a:endParaRPr lang="en-IN" sz="1300"/>
                    </a:p>
                  </a:txBody>
                  <a:tcPr marL="65929" marR="65929" marT="32965" marB="32965" anchor="ctr"/>
                </a:tc>
                <a:tc>
                  <a:txBody>
                    <a:bodyPr/>
                    <a:lstStyle/>
                    <a:p>
                      <a:pPr>
                        <a:buNone/>
                      </a:pPr>
                      <a:r>
                        <a:rPr lang="en-IN" sz="1300"/>
                        <a:t>http://www.mybank.com/login</a:t>
                      </a:r>
                      <a:endParaRPr lang="en-IN" sz="1300"/>
                    </a:p>
                  </a:txBody>
                  <a:tcPr marL="65929" marR="65929" marT="32965" marB="32965" anchor="ctr"/>
                </a:tc>
                <a:tc>
                  <a:txBody>
                    <a:bodyPr/>
                    <a:lstStyle/>
                    <a:p>
                      <a:pPr>
                        <a:buNone/>
                      </a:pPr>
                      <a:r>
                        <a:rPr lang="en-US" sz="1300" dirty="0"/>
                        <a:t>Uses HTTP instead of HTTPS</a:t>
                      </a:r>
                      <a:endParaRPr lang="en-US" sz="1300" dirty="0"/>
                    </a:p>
                  </a:txBody>
                  <a:tcPr marL="65929" marR="65929" marT="32965" marB="32965" anchor="ctr"/>
                </a:tc>
                <a:tc>
                  <a:txBody>
                    <a:bodyPr/>
                    <a:lstStyle/>
                    <a:p>
                      <a:pPr>
                        <a:buNone/>
                      </a:pPr>
                      <a:r>
                        <a:rPr lang="en-IN" sz="1300" b="1"/>
                        <a:t>Phishing</a:t>
                      </a:r>
                      <a:endParaRPr lang="en-IN" sz="1300"/>
                    </a:p>
                  </a:txBody>
                  <a:tcPr marL="65929" marR="65929" marT="32965" marB="32965" anchor="ctr"/>
                </a:tc>
              </a:tr>
              <a:tr h="506158">
                <a:tc>
                  <a:txBody>
                    <a:bodyPr/>
                    <a:lstStyle/>
                    <a:p>
                      <a:pPr>
                        <a:buNone/>
                      </a:pPr>
                      <a:r>
                        <a:rPr lang="en-IN" sz="1300" dirty="0"/>
                        <a:t>URL-03</a:t>
                      </a:r>
                      <a:endParaRPr lang="en-IN" sz="1300" dirty="0"/>
                    </a:p>
                  </a:txBody>
                  <a:tcPr marL="65929" marR="65929" marT="32965" marB="32965" anchor="ctr"/>
                </a:tc>
                <a:tc>
                  <a:txBody>
                    <a:bodyPr/>
                    <a:lstStyle/>
                    <a:p>
                      <a:pPr>
                        <a:buNone/>
                      </a:pPr>
                      <a:r>
                        <a:rPr lang="en-IN" sz="1300"/>
                        <a:t>https://secure.paypa1.com/login</a:t>
                      </a:r>
                      <a:endParaRPr lang="en-IN" sz="1300"/>
                    </a:p>
                  </a:txBody>
                  <a:tcPr marL="65929" marR="65929" marT="32965" marB="32965" anchor="ctr"/>
                </a:tc>
                <a:tc>
                  <a:txBody>
                    <a:bodyPr/>
                    <a:lstStyle/>
                    <a:p>
                      <a:pPr>
                        <a:buNone/>
                      </a:pPr>
                      <a:r>
                        <a:rPr lang="en-IN" sz="1300"/>
                        <a:t>Lookalike domain (“paypa1”)</a:t>
                      </a:r>
                      <a:endParaRPr lang="en-IN" sz="1300"/>
                    </a:p>
                  </a:txBody>
                  <a:tcPr marL="65929" marR="65929" marT="32965" marB="32965" anchor="ctr"/>
                </a:tc>
                <a:tc>
                  <a:txBody>
                    <a:bodyPr/>
                    <a:lstStyle/>
                    <a:p>
                      <a:pPr>
                        <a:buNone/>
                      </a:pPr>
                      <a:r>
                        <a:rPr lang="en-IN" sz="1300" b="1"/>
                        <a:t>Phishing</a:t>
                      </a:r>
                      <a:endParaRPr lang="en-IN" sz="1300"/>
                    </a:p>
                  </a:txBody>
                  <a:tcPr marL="65929" marR="65929" marT="32965" marB="32965" anchor="ctr"/>
                </a:tc>
              </a:tr>
              <a:tr h="723083">
                <a:tc>
                  <a:txBody>
                    <a:bodyPr/>
                    <a:lstStyle/>
                    <a:p>
                      <a:pPr>
                        <a:buNone/>
                      </a:pPr>
                      <a:r>
                        <a:rPr lang="en-IN" sz="1300"/>
                        <a:t>URL-04</a:t>
                      </a:r>
                      <a:endParaRPr lang="en-IN" sz="1300"/>
                    </a:p>
                  </a:txBody>
                  <a:tcPr marL="65929" marR="65929" marT="32965" marB="32965" anchor="ctr"/>
                </a:tc>
                <a:tc>
                  <a:txBody>
                    <a:bodyPr/>
                    <a:lstStyle/>
                    <a:p>
                      <a:pPr>
                        <a:buNone/>
                      </a:pPr>
                      <a:r>
                        <a:rPr lang="en-IN" sz="1300"/>
                        <a:t>https://mybank.secure-login-verification.com</a:t>
                      </a:r>
                      <a:endParaRPr lang="en-IN" sz="1300"/>
                    </a:p>
                  </a:txBody>
                  <a:tcPr marL="65929" marR="65929" marT="32965" marB="32965" anchor="ctr"/>
                </a:tc>
                <a:tc>
                  <a:txBody>
                    <a:bodyPr/>
                    <a:lstStyle/>
                    <a:p>
                      <a:pPr>
                        <a:buNone/>
                      </a:pPr>
                      <a:r>
                        <a:rPr lang="en-IN" sz="1300"/>
                        <a:t>Excessive subdomain + suspicious keywords</a:t>
                      </a:r>
                      <a:endParaRPr lang="en-IN" sz="1300"/>
                    </a:p>
                  </a:txBody>
                  <a:tcPr marL="65929" marR="65929" marT="32965" marB="32965" anchor="ctr"/>
                </a:tc>
                <a:tc>
                  <a:txBody>
                    <a:bodyPr/>
                    <a:lstStyle/>
                    <a:p>
                      <a:pPr>
                        <a:buNone/>
                      </a:pPr>
                      <a:r>
                        <a:rPr lang="en-IN" sz="1300" b="1"/>
                        <a:t>Phishing</a:t>
                      </a:r>
                      <a:endParaRPr lang="en-IN" sz="1300"/>
                    </a:p>
                  </a:txBody>
                  <a:tcPr marL="65929" marR="65929" marT="32965" marB="32965" anchor="ctr"/>
                </a:tc>
              </a:tr>
              <a:tr h="506158">
                <a:tc>
                  <a:txBody>
                    <a:bodyPr/>
                    <a:lstStyle/>
                    <a:p>
                      <a:pPr>
                        <a:buNone/>
                      </a:pPr>
                      <a:r>
                        <a:rPr lang="en-IN" sz="1300"/>
                        <a:t>URL-05</a:t>
                      </a:r>
                      <a:endParaRPr lang="en-IN" sz="1300"/>
                    </a:p>
                  </a:txBody>
                  <a:tcPr marL="65929" marR="65929" marT="32965" marB="32965" anchor="ctr"/>
                </a:tc>
                <a:tc>
                  <a:txBody>
                    <a:bodyPr/>
                    <a:lstStyle/>
                    <a:p>
                      <a:pPr>
                        <a:buNone/>
                      </a:pPr>
                      <a:r>
                        <a:rPr lang="en-IN" sz="1300"/>
                        <a:t>http://192.168.1.20/ebanking</a:t>
                      </a:r>
                      <a:endParaRPr lang="en-IN" sz="1300"/>
                    </a:p>
                  </a:txBody>
                  <a:tcPr marL="65929" marR="65929" marT="32965" marB="32965" anchor="ctr"/>
                </a:tc>
                <a:tc>
                  <a:txBody>
                    <a:bodyPr/>
                    <a:lstStyle/>
                    <a:p>
                      <a:pPr>
                        <a:buNone/>
                      </a:pPr>
                      <a:r>
                        <a:rPr lang="en-US" sz="1300"/>
                        <a:t>Uses IP instead of domain</a:t>
                      </a:r>
                      <a:endParaRPr lang="en-US" sz="1300"/>
                    </a:p>
                  </a:txBody>
                  <a:tcPr marL="65929" marR="65929" marT="32965" marB="32965" anchor="ctr"/>
                </a:tc>
                <a:tc>
                  <a:txBody>
                    <a:bodyPr/>
                    <a:lstStyle/>
                    <a:p>
                      <a:pPr>
                        <a:buNone/>
                      </a:pPr>
                      <a:r>
                        <a:rPr lang="en-IN" sz="1300" b="1"/>
                        <a:t>Phishing</a:t>
                      </a:r>
                      <a:endParaRPr lang="en-IN" sz="1300"/>
                    </a:p>
                  </a:txBody>
                  <a:tcPr marL="65929" marR="65929" marT="32965" marB="32965" anchor="ctr"/>
                </a:tc>
              </a:tr>
              <a:tr h="506158">
                <a:tc>
                  <a:txBody>
                    <a:bodyPr/>
                    <a:lstStyle/>
                    <a:p>
                      <a:pPr>
                        <a:buNone/>
                      </a:pPr>
                      <a:r>
                        <a:rPr lang="en-IN" sz="1300"/>
                        <a:t>URL-06</a:t>
                      </a:r>
                      <a:endParaRPr lang="en-IN" sz="1300"/>
                    </a:p>
                  </a:txBody>
                  <a:tcPr marL="65929" marR="65929" marT="32965" marB="32965" anchor="ctr"/>
                </a:tc>
                <a:tc>
                  <a:txBody>
                    <a:bodyPr/>
                    <a:lstStyle/>
                    <a:p>
                      <a:pPr>
                        <a:buNone/>
                      </a:pPr>
                      <a:r>
                        <a:rPr lang="en-IN" sz="1300"/>
                        <a:t>https://xn--mybnk-hva.com</a:t>
                      </a:r>
                      <a:endParaRPr lang="en-IN" sz="1300"/>
                    </a:p>
                  </a:txBody>
                  <a:tcPr marL="65929" marR="65929" marT="32965" marB="32965" anchor="ctr"/>
                </a:tc>
                <a:tc>
                  <a:txBody>
                    <a:bodyPr/>
                    <a:lstStyle/>
                    <a:p>
                      <a:pPr>
                        <a:buNone/>
                      </a:pPr>
                      <a:r>
                        <a:rPr lang="en-IN" sz="1300"/>
                        <a:t>Homoglyph / punycode domain</a:t>
                      </a:r>
                      <a:endParaRPr lang="en-IN" sz="1300"/>
                    </a:p>
                  </a:txBody>
                  <a:tcPr marL="65929" marR="65929" marT="32965" marB="32965" anchor="ctr"/>
                </a:tc>
                <a:tc>
                  <a:txBody>
                    <a:bodyPr/>
                    <a:lstStyle/>
                    <a:p>
                      <a:pPr>
                        <a:buNone/>
                      </a:pPr>
                      <a:r>
                        <a:rPr lang="en-IN" sz="1300" b="1"/>
                        <a:t>Phishing</a:t>
                      </a:r>
                      <a:endParaRPr lang="en-IN" sz="1300"/>
                    </a:p>
                  </a:txBody>
                  <a:tcPr marL="65929" marR="65929" marT="32965" marB="32965" anchor="ctr"/>
                </a:tc>
              </a:tr>
              <a:tr h="506158">
                <a:tc>
                  <a:txBody>
                    <a:bodyPr/>
                    <a:lstStyle/>
                    <a:p>
                      <a:pPr>
                        <a:buNone/>
                      </a:pPr>
                      <a:r>
                        <a:rPr lang="en-IN" sz="1300"/>
                        <a:t>URL-07</a:t>
                      </a:r>
                      <a:endParaRPr lang="en-IN" sz="1300"/>
                    </a:p>
                  </a:txBody>
                  <a:tcPr marL="65929" marR="65929" marT="32965" marB="32965" anchor="ctr"/>
                </a:tc>
                <a:tc>
                  <a:txBody>
                    <a:bodyPr/>
                    <a:lstStyle/>
                    <a:p>
                      <a:pPr>
                        <a:buNone/>
                      </a:pPr>
                      <a:r>
                        <a:rPr lang="en-IN" sz="1300"/>
                        <a:t>https://bit.ly/3aK2zXq</a:t>
                      </a:r>
                      <a:endParaRPr lang="en-IN" sz="1300"/>
                    </a:p>
                  </a:txBody>
                  <a:tcPr marL="65929" marR="65929" marT="32965" marB="32965" anchor="ctr"/>
                </a:tc>
                <a:tc>
                  <a:txBody>
                    <a:bodyPr/>
                    <a:lstStyle/>
                    <a:p>
                      <a:pPr>
                        <a:buNone/>
                      </a:pPr>
                      <a:r>
                        <a:rPr lang="en-IN" sz="1300"/>
                        <a:t>Shortened URL</a:t>
                      </a:r>
                      <a:endParaRPr lang="en-IN" sz="1300"/>
                    </a:p>
                  </a:txBody>
                  <a:tcPr marL="65929" marR="65929" marT="32965" marB="32965" anchor="ctr"/>
                </a:tc>
                <a:tc>
                  <a:txBody>
                    <a:bodyPr/>
                    <a:lstStyle/>
                    <a:p>
                      <a:pPr>
                        <a:buNone/>
                      </a:pPr>
                      <a:r>
                        <a:rPr lang="en-IN" sz="1300" b="1"/>
                        <a:t>Suspicious → Phishing</a:t>
                      </a:r>
                      <a:endParaRPr lang="en-IN" sz="1300"/>
                    </a:p>
                  </a:txBody>
                  <a:tcPr marL="65929" marR="65929" marT="32965" marB="32965" anchor="ctr"/>
                </a:tc>
              </a:tr>
              <a:tr h="723083">
                <a:tc>
                  <a:txBody>
                    <a:bodyPr/>
                    <a:lstStyle/>
                    <a:p>
                      <a:pPr>
                        <a:buNone/>
                      </a:pPr>
                      <a:r>
                        <a:rPr lang="en-IN" sz="1300"/>
                        <a:t>URL-08</a:t>
                      </a:r>
                      <a:endParaRPr lang="en-IN" sz="1300"/>
                    </a:p>
                  </a:txBody>
                  <a:tcPr marL="65929" marR="65929" marT="32965" marB="32965" anchor="ctr"/>
                </a:tc>
                <a:tc>
                  <a:txBody>
                    <a:bodyPr/>
                    <a:lstStyle/>
                    <a:p>
                      <a:pPr>
                        <a:buNone/>
                      </a:pPr>
                      <a:r>
                        <a:rPr lang="en-IN" sz="1300"/>
                        <a:t>https://mybank.com.login.verify-update.com</a:t>
                      </a:r>
                      <a:endParaRPr lang="en-IN" sz="1300"/>
                    </a:p>
                  </a:txBody>
                  <a:tcPr marL="65929" marR="65929" marT="32965" marB="32965" anchor="ctr"/>
                </a:tc>
                <a:tc>
                  <a:txBody>
                    <a:bodyPr/>
                    <a:lstStyle/>
                    <a:p>
                      <a:pPr>
                        <a:buNone/>
                      </a:pPr>
                      <a:r>
                        <a:rPr lang="en-US" sz="1300"/>
                        <a:t>Fake bank name before real domain</a:t>
                      </a:r>
                      <a:endParaRPr lang="en-US" sz="1300"/>
                    </a:p>
                  </a:txBody>
                  <a:tcPr marL="65929" marR="65929" marT="32965" marB="32965" anchor="ctr"/>
                </a:tc>
                <a:tc>
                  <a:txBody>
                    <a:bodyPr/>
                    <a:lstStyle/>
                    <a:p>
                      <a:pPr>
                        <a:buNone/>
                      </a:pPr>
                      <a:r>
                        <a:rPr lang="en-IN" sz="1300" b="1" dirty="0"/>
                        <a:t>Phishing</a:t>
                      </a:r>
                      <a:endParaRPr lang="en-IN" sz="1300" dirty="0"/>
                    </a:p>
                  </a:txBody>
                  <a:tcPr marL="65929" marR="65929" marT="32965" marB="32965" anchor="ct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2540" y="0"/>
            <a:ext cx="12189460" cy="825500"/>
          </a:xfrm>
          <a:prstGeom prst="rect">
            <a:avLst/>
          </a:prstGeom>
          <a:solidFill>
            <a:srgbClr val="002060"/>
          </a:solidFill>
        </p:spPr>
        <p:txBody>
          <a:bodyPr/>
          <a:lstStyle/>
          <a:p>
            <a:pPr lvl="0">
              <a:lnSpc>
                <a:spcPct val="90000"/>
              </a:lnSpc>
              <a:spcBef>
                <a:spcPct val="0"/>
              </a:spcBef>
              <a:defRPr/>
            </a:pPr>
            <a:r>
              <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rPr>
              <a:t>Snapshots</a:t>
            </a:r>
            <a:endPar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endParaRPr>
          </a:p>
        </p:txBody>
      </p:sp>
      <p:sp>
        <p:nvSpPr>
          <p:cNvPr id="3" name="TextBox 2"/>
          <p:cNvSpPr txBox="1"/>
          <p:nvPr/>
        </p:nvSpPr>
        <p:spPr>
          <a:xfrm>
            <a:off x="0" y="6538912"/>
            <a:ext cx="12192000" cy="368300"/>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fld id="{A779D412-7551-4DA0-A19D-519BB8214474}" type="slidenum">
              <a:rPr lang="en-IN" smtClean="0">
                <a:ln>
                  <a:solidFill>
                    <a:schemeClr val="bg1"/>
                  </a:solidFill>
                </a:ln>
                <a:solidFill>
                  <a:schemeClr val="bg1"/>
                </a:solidFill>
              </a:rPr>
            </a:fld>
            <a:endParaRPr lang="en-IN" dirty="0">
              <a:ln>
                <a:solidFill>
                  <a:schemeClr val="bg1"/>
                </a:solidFill>
              </a:ln>
              <a:solidFill>
                <a:schemeClr val="bg1"/>
              </a:solidFill>
            </a:endParaRPr>
          </a:p>
        </p:txBody>
      </p:sp>
      <p:pic>
        <p:nvPicPr>
          <p:cNvPr id="6" name="Picture 5"/>
          <p:cNvPicPr>
            <a:picLocks noChangeAspect="1"/>
          </p:cNvPicPr>
          <p:nvPr/>
        </p:nvPicPr>
        <p:blipFill>
          <a:blip r:embed="rId1"/>
          <a:stretch>
            <a:fillRect/>
          </a:stretch>
        </p:blipFill>
        <p:spPr>
          <a:xfrm>
            <a:off x="533187" y="1086774"/>
            <a:ext cx="4907389" cy="2524173"/>
          </a:xfrm>
          <a:prstGeom prst="rect">
            <a:avLst/>
          </a:prstGeom>
        </p:spPr>
      </p:pic>
      <p:pic>
        <p:nvPicPr>
          <p:cNvPr id="8" name="Picture 7"/>
          <p:cNvPicPr>
            <a:picLocks noChangeAspect="1"/>
          </p:cNvPicPr>
          <p:nvPr/>
        </p:nvPicPr>
        <p:blipFill>
          <a:blip r:embed="rId2"/>
          <a:stretch>
            <a:fillRect/>
          </a:stretch>
        </p:blipFill>
        <p:spPr>
          <a:xfrm>
            <a:off x="5951645" y="1086774"/>
            <a:ext cx="4998852" cy="2524173"/>
          </a:xfrm>
          <a:prstGeom prst="rect">
            <a:avLst/>
          </a:prstGeom>
        </p:spPr>
      </p:pic>
      <p:pic>
        <p:nvPicPr>
          <p:cNvPr id="10" name="Picture 9"/>
          <p:cNvPicPr>
            <a:picLocks noChangeAspect="1"/>
          </p:cNvPicPr>
          <p:nvPr/>
        </p:nvPicPr>
        <p:blipFill>
          <a:blip r:embed="rId3"/>
          <a:stretch>
            <a:fillRect/>
          </a:stretch>
        </p:blipFill>
        <p:spPr>
          <a:xfrm>
            <a:off x="233266" y="3781474"/>
            <a:ext cx="5376563" cy="2757438"/>
          </a:xfrm>
          <a:prstGeom prst="rect">
            <a:avLst/>
          </a:prstGeom>
        </p:spPr>
      </p:pic>
      <p:pic>
        <p:nvPicPr>
          <p:cNvPr id="12" name="Picture 11"/>
          <p:cNvPicPr>
            <a:picLocks noChangeAspect="1"/>
          </p:cNvPicPr>
          <p:nvPr/>
        </p:nvPicPr>
        <p:blipFill>
          <a:blip r:embed="rId4"/>
          <a:stretch>
            <a:fillRect/>
          </a:stretch>
        </p:blipFill>
        <p:spPr>
          <a:xfrm>
            <a:off x="5951645" y="3645746"/>
            <a:ext cx="5497862" cy="272263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2540" y="0"/>
            <a:ext cx="12189460" cy="843915"/>
          </a:xfrm>
          <a:prstGeom prst="rect">
            <a:avLst/>
          </a:prstGeom>
          <a:solidFill>
            <a:srgbClr val="002060"/>
          </a:solidFill>
        </p:spPr>
        <p:txBody>
          <a:bodyPr/>
          <a:lstStyle/>
          <a:p>
            <a:pPr lvl="0">
              <a:lnSpc>
                <a:spcPct val="90000"/>
              </a:lnSpc>
              <a:spcBef>
                <a:spcPct val="0"/>
              </a:spcBef>
              <a:defRPr/>
            </a:pPr>
            <a:r>
              <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rPr>
              <a:t>Snapshots</a:t>
            </a:r>
            <a:endPar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endParaRPr>
          </a:p>
        </p:txBody>
      </p:sp>
      <p:sp>
        <p:nvSpPr>
          <p:cNvPr id="3" name="TextBox 2"/>
          <p:cNvSpPr txBox="1"/>
          <p:nvPr/>
        </p:nvSpPr>
        <p:spPr>
          <a:xfrm>
            <a:off x="0" y="6538912"/>
            <a:ext cx="12192000" cy="368300"/>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fld id="{A779D412-7551-4DA0-A19D-519BB8214474}" type="slidenum">
              <a:rPr lang="en-IN" smtClean="0">
                <a:ln>
                  <a:solidFill>
                    <a:schemeClr val="bg1"/>
                  </a:solidFill>
                </a:ln>
                <a:solidFill>
                  <a:schemeClr val="bg1"/>
                </a:solidFill>
              </a:rPr>
            </a:fld>
            <a:endParaRPr lang="en-IN" dirty="0">
              <a:ln>
                <a:solidFill>
                  <a:schemeClr val="bg1"/>
                </a:solidFill>
              </a:ln>
              <a:solidFill>
                <a:schemeClr val="bg1"/>
              </a:solidFill>
            </a:endParaRPr>
          </a:p>
        </p:txBody>
      </p:sp>
      <p:pic>
        <p:nvPicPr>
          <p:cNvPr id="6" name="Picture 5"/>
          <p:cNvPicPr>
            <a:picLocks noChangeAspect="1"/>
          </p:cNvPicPr>
          <p:nvPr/>
        </p:nvPicPr>
        <p:blipFill>
          <a:blip r:embed="rId1"/>
          <a:stretch>
            <a:fillRect/>
          </a:stretch>
        </p:blipFill>
        <p:spPr>
          <a:xfrm>
            <a:off x="354564" y="1086774"/>
            <a:ext cx="5160434" cy="2496109"/>
          </a:xfrm>
          <a:prstGeom prst="rect">
            <a:avLst/>
          </a:prstGeom>
        </p:spPr>
      </p:pic>
      <p:pic>
        <p:nvPicPr>
          <p:cNvPr id="10" name="Picture 9"/>
          <p:cNvPicPr>
            <a:picLocks noChangeAspect="1"/>
          </p:cNvPicPr>
          <p:nvPr/>
        </p:nvPicPr>
        <p:blipFill>
          <a:blip r:embed="rId2"/>
          <a:stretch>
            <a:fillRect/>
          </a:stretch>
        </p:blipFill>
        <p:spPr>
          <a:xfrm>
            <a:off x="6270171" y="1086775"/>
            <a:ext cx="4738338" cy="2491506"/>
          </a:xfrm>
          <a:prstGeom prst="rect">
            <a:avLst/>
          </a:prstGeom>
        </p:spPr>
      </p:pic>
      <p:pic>
        <p:nvPicPr>
          <p:cNvPr id="12" name="Picture 11"/>
          <p:cNvPicPr>
            <a:picLocks noChangeAspect="1"/>
          </p:cNvPicPr>
          <p:nvPr/>
        </p:nvPicPr>
        <p:blipFill>
          <a:blip r:embed="rId3"/>
          <a:stretch>
            <a:fillRect/>
          </a:stretch>
        </p:blipFill>
        <p:spPr>
          <a:xfrm>
            <a:off x="717202" y="3825460"/>
            <a:ext cx="3705507" cy="2371525"/>
          </a:xfrm>
          <a:prstGeom prst="rect">
            <a:avLst/>
          </a:prstGeom>
        </p:spPr>
      </p:pic>
      <p:pic>
        <p:nvPicPr>
          <p:cNvPr id="14" name="Picture 13"/>
          <p:cNvPicPr>
            <a:picLocks noChangeAspect="1"/>
          </p:cNvPicPr>
          <p:nvPr/>
        </p:nvPicPr>
        <p:blipFill>
          <a:blip r:embed="rId4"/>
          <a:stretch>
            <a:fillRect/>
          </a:stretch>
        </p:blipFill>
        <p:spPr>
          <a:xfrm>
            <a:off x="6335200" y="3820859"/>
            <a:ext cx="4448758" cy="252141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2540" y="0"/>
            <a:ext cx="12189460" cy="843915"/>
          </a:xfrm>
          <a:prstGeom prst="rect">
            <a:avLst/>
          </a:prstGeom>
          <a:solidFill>
            <a:srgbClr val="002060"/>
          </a:solidFill>
        </p:spPr>
        <p:txBody>
          <a:bodyPr/>
          <a:lstStyle/>
          <a:p>
            <a:pPr lvl="0">
              <a:lnSpc>
                <a:spcPct val="90000"/>
              </a:lnSpc>
              <a:spcBef>
                <a:spcPct val="0"/>
              </a:spcBef>
              <a:defRPr/>
            </a:pPr>
            <a:r>
              <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rPr>
              <a:t>Snapshots-(Google Extension)</a:t>
            </a:r>
            <a:endPar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endParaRPr>
          </a:p>
        </p:txBody>
      </p:sp>
      <p:sp>
        <p:nvSpPr>
          <p:cNvPr id="3" name="TextBox 2"/>
          <p:cNvSpPr txBox="1"/>
          <p:nvPr/>
        </p:nvSpPr>
        <p:spPr>
          <a:xfrm>
            <a:off x="0" y="6538912"/>
            <a:ext cx="12192000" cy="368300"/>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fld id="{A779D412-7551-4DA0-A19D-519BB8214474}" type="slidenum">
              <a:rPr lang="en-IN" smtClean="0">
                <a:ln>
                  <a:solidFill>
                    <a:schemeClr val="bg1"/>
                  </a:solidFill>
                </a:ln>
                <a:solidFill>
                  <a:schemeClr val="bg1"/>
                </a:solidFill>
              </a:rPr>
            </a:fld>
            <a:endParaRPr lang="en-IN" dirty="0">
              <a:ln>
                <a:solidFill>
                  <a:schemeClr val="bg1"/>
                </a:solidFill>
              </a:ln>
              <a:solidFill>
                <a:schemeClr val="bg1"/>
              </a:solidFill>
            </a:endParaRPr>
          </a:p>
        </p:txBody>
      </p:sp>
      <p:pic>
        <p:nvPicPr>
          <p:cNvPr id="8" name="Picture 7"/>
          <p:cNvPicPr>
            <a:picLocks noChangeAspect="1"/>
          </p:cNvPicPr>
          <p:nvPr/>
        </p:nvPicPr>
        <p:blipFill>
          <a:blip r:embed="rId1"/>
          <a:stretch>
            <a:fillRect/>
          </a:stretch>
        </p:blipFill>
        <p:spPr>
          <a:xfrm>
            <a:off x="323030" y="1291133"/>
            <a:ext cx="10967011" cy="480084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0" y="0"/>
            <a:ext cx="12192000" cy="835025"/>
          </a:xfrm>
          <a:prstGeom prst="rect">
            <a:avLst/>
          </a:prstGeom>
          <a:solidFill>
            <a:srgbClr val="002060"/>
          </a:solidFill>
        </p:spPr>
        <p:txBody>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rPr>
              <a:t>Conclusion</a:t>
            </a:r>
            <a:endPar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endParaRPr>
          </a:p>
        </p:txBody>
      </p:sp>
      <p:sp>
        <p:nvSpPr>
          <p:cNvPr id="3" name="TextBox 2"/>
          <p:cNvSpPr txBox="1"/>
          <p:nvPr/>
        </p:nvSpPr>
        <p:spPr>
          <a:xfrm>
            <a:off x="0" y="6538912"/>
            <a:ext cx="12192000" cy="368300"/>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fld id="{A779D412-7551-4DA0-A19D-519BB8214474}" type="slidenum">
              <a:rPr lang="en-IN" smtClean="0">
                <a:ln>
                  <a:solidFill>
                    <a:schemeClr val="bg1"/>
                  </a:solidFill>
                </a:ln>
                <a:solidFill>
                  <a:schemeClr val="bg1"/>
                </a:solidFill>
              </a:rPr>
            </a:fld>
            <a:endParaRPr lang="en-IN" dirty="0">
              <a:ln>
                <a:solidFill>
                  <a:schemeClr val="bg1"/>
                </a:solidFill>
              </a:ln>
              <a:solidFill>
                <a:schemeClr val="bg1"/>
              </a:solidFill>
            </a:endParaRPr>
          </a:p>
        </p:txBody>
      </p:sp>
      <p:sp>
        <p:nvSpPr>
          <p:cNvPr id="6" name="TextBox 5"/>
          <p:cNvSpPr txBox="1"/>
          <p:nvPr/>
        </p:nvSpPr>
        <p:spPr>
          <a:xfrm>
            <a:off x="386314" y="2004256"/>
            <a:ext cx="11280711" cy="2119747"/>
          </a:xfrm>
          <a:prstGeom prst="rect">
            <a:avLst/>
          </a:prstGeom>
          <a:noFill/>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In conclusion, the increasing sophistication of phishing attacks in e-banking necessitates the development of advanced detection methods that can adapt to evolving tactics. This study highlights the potential of associative classification as a powerful tool for uncovering hidden patterns and relationships within phishing data. By leveraging this approach, we aim to create a robust model that not only enhances the accuracy of phishing detection but also minimizes false positives, thereby reinforcing the security of e-banking systems.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2540" y="0"/>
            <a:ext cx="12189460" cy="843915"/>
          </a:xfrm>
          <a:prstGeom prst="rect">
            <a:avLst/>
          </a:prstGeom>
          <a:solidFill>
            <a:srgbClr val="002060"/>
          </a:solidFill>
        </p:spPr>
        <p:txBody>
          <a:bodyPr/>
          <a:lstStyle/>
          <a:p>
            <a:pPr lvl="0">
              <a:lnSpc>
                <a:spcPct val="90000"/>
              </a:lnSpc>
              <a:spcBef>
                <a:spcPct val="0"/>
              </a:spcBef>
              <a:defRPr/>
            </a:pPr>
            <a:r>
              <a:rPr lang="en-IN" sz="4400" b="1" dirty="0">
                <a:ln>
                  <a:solidFill>
                    <a:schemeClr val="bg1"/>
                  </a:solidFill>
                </a:ln>
                <a:solidFill>
                  <a:schemeClr val="bg1"/>
                </a:solidFill>
                <a:latin typeface="Times New Roman" panose="02020603050405020304" pitchFamily="18" charset="0"/>
                <a:ea typeface="+mj-ea"/>
                <a:cs typeface="Times New Roman" panose="02020603050405020304" pitchFamily="18" charset="0"/>
              </a:rPr>
              <a:t>F</a:t>
            </a:r>
            <a:r>
              <a:rPr kumimoji="0" lang="en-IN" sz="4400" b="1" i="0" u="none" strike="noStrike" kern="1200" cap="none" spc="0" normalizeH="0" baseline="0" noProof="0" dirty="0" err="1">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rPr>
              <a:t>uture</a:t>
            </a:r>
            <a:r>
              <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rPr>
              <a:t> Enhancements</a:t>
            </a:r>
            <a:endPar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endParaRPr>
          </a:p>
        </p:txBody>
      </p:sp>
      <p:sp>
        <p:nvSpPr>
          <p:cNvPr id="3" name="TextBox 2"/>
          <p:cNvSpPr txBox="1"/>
          <p:nvPr/>
        </p:nvSpPr>
        <p:spPr>
          <a:xfrm>
            <a:off x="0" y="6538912"/>
            <a:ext cx="12192000" cy="368300"/>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fld id="{A779D412-7551-4DA0-A19D-519BB8214474}" type="slidenum">
              <a:rPr lang="en-IN" smtClean="0">
                <a:ln>
                  <a:solidFill>
                    <a:schemeClr val="bg1"/>
                  </a:solidFill>
                </a:ln>
                <a:solidFill>
                  <a:schemeClr val="bg1"/>
                </a:solidFill>
              </a:rPr>
            </a:fld>
            <a:endParaRPr lang="en-IN" dirty="0">
              <a:ln>
                <a:solidFill>
                  <a:schemeClr val="bg1"/>
                </a:solidFill>
              </a:ln>
              <a:solidFill>
                <a:schemeClr val="bg1"/>
              </a:solidFill>
            </a:endParaRPr>
          </a:p>
        </p:txBody>
      </p:sp>
      <p:sp>
        <p:nvSpPr>
          <p:cNvPr id="8" name="TextBox 7"/>
          <p:cNvSpPr txBox="1"/>
          <p:nvPr/>
        </p:nvSpPr>
        <p:spPr>
          <a:xfrm>
            <a:off x="429208" y="1102177"/>
            <a:ext cx="10687827" cy="4653646"/>
          </a:xfrm>
          <a:prstGeom prst="rect">
            <a:avLst/>
          </a:prstGeom>
          <a:noFill/>
        </p:spPr>
        <p:txBody>
          <a:bodyPr wrap="square">
            <a:spAutoFit/>
          </a:bodyPr>
          <a:lstStyle/>
          <a:p>
            <a:pPr algn="just">
              <a:lnSpc>
                <a:spcPct val="150000"/>
              </a:lnSpc>
              <a:buNone/>
            </a:pPr>
            <a:r>
              <a:rPr lang="en-US" sz="2000" dirty="0">
                <a:latin typeface="Times New Roman" panose="02020603050405020304" pitchFamily="18" charset="0"/>
                <a:cs typeface="Times New Roman" panose="02020603050405020304" pitchFamily="18" charset="0"/>
              </a:rPr>
              <a:t>Future enhancements for combating e-banking phishing should focus on strengthening authentication, improving user awareness, and adopting more secure communication technologies. Advanced multi-factor authentication, such as biometrics and transaction-specific verification, can significantly reduce the risk of unauthorized access. At the same time, continuous user education through simulated phishing exercises and awareness campaigns remains essential, as informed users are less likely to fall victim to social engineering attacks. Emerging solutions like blockchain-based identity verification offer the potential for tamper-proof digital identities, further enhancing trust and security in online transactions. Additionally, implementing robust communication protocols such as DMARC, SPF, and DKIM, along with encrypted messaging channels, can help ensure that customers receive only legitimate communications from their banks, ultimately reducing exposure to phishing attempts.</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0" y="0"/>
            <a:ext cx="12192000" cy="862330"/>
          </a:xfrm>
          <a:prstGeom prst="rect">
            <a:avLst/>
          </a:prstGeom>
          <a:solidFill>
            <a:srgbClr val="002060"/>
          </a:solidFill>
        </p:spPr>
        <p:txBody>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rPr>
              <a:t>References </a:t>
            </a:r>
            <a:endParaRPr kumimoji="0" lang="en-IN" sz="4400" b="1" i="0" u="none" strike="noStrike" kern="1200" cap="none" spc="0" normalizeH="0" baseline="0" noProof="0" dirty="0">
              <a:ln>
                <a:solidFill>
                  <a:schemeClr val="bg1"/>
                </a:solidFill>
              </a:ln>
              <a:solidFill>
                <a:schemeClr val="bg1"/>
              </a:solidFill>
              <a:effectLst/>
              <a:uLnTx/>
              <a:uFillTx/>
              <a:latin typeface="Times New Roman" panose="02020603050405020304" pitchFamily="18" charset="0"/>
              <a:ea typeface="+mj-ea"/>
              <a:cs typeface="Times New Roman" panose="02020603050405020304" pitchFamily="18" charset="0"/>
            </a:endParaRPr>
          </a:p>
        </p:txBody>
      </p:sp>
      <p:sp>
        <p:nvSpPr>
          <p:cNvPr id="4" name="TextBox 3"/>
          <p:cNvSpPr txBox="1"/>
          <p:nvPr/>
        </p:nvSpPr>
        <p:spPr>
          <a:xfrm>
            <a:off x="0" y="6538912"/>
            <a:ext cx="12192000" cy="368300"/>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fld id="{A779D412-7551-4DA0-A19D-519BB8214474}" type="slidenum">
              <a:rPr lang="en-IN" smtClean="0">
                <a:ln>
                  <a:solidFill>
                    <a:schemeClr val="bg1"/>
                  </a:solidFill>
                </a:ln>
                <a:solidFill>
                  <a:schemeClr val="bg1"/>
                </a:solidFill>
              </a:rPr>
            </a:fld>
            <a:endParaRPr lang="en-IN" dirty="0">
              <a:ln>
                <a:solidFill>
                  <a:schemeClr val="bg1"/>
                </a:solidFill>
              </a:ln>
              <a:solidFill>
                <a:schemeClr val="bg1"/>
              </a:solidFill>
            </a:endParaRPr>
          </a:p>
        </p:txBody>
      </p:sp>
      <p:sp>
        <p:nvSpPr>
          <p:cNvPr id="7" name="Content Placeholder 6"/>
          <p:cNvSpPr>
            <a:spLocks noGrp="1"/>
          </p:cNvSpPr>
          <p:nvPr>
            <p:ph idx="1"/>
          </p:nvPr>
        </p:nvSpPr>
        <p:spPr>
          <a:xfrm>
            <a:off x="326571" y="1651518"/>
            <a:ext cx="11064551" cy="4189445"/>
          </a:xfrm>
        </p:spPr>
        <p:txBody>
          <a:bodyPr>
            <a:normAutofit/>
          </a:bodyPr>
          <a:lstStyle/>
          <a:p>
            <a:pPr marL="0" indent="0">
              <a:buNone/>
            </a:pPr>
            <a:r>
              <a:rPr lang="en-US" sz="1600" dirty="0">
                <a:latin typeface="Times New Roman" panose="02020603050405020304" pitchFamily="18" charset="0"/>
                <a:cs typeface="Times New Roman" panose="02020603050405020304" pitchFamily="18" charset="0"/>
              </a:rPr>
              <a:t>[1]</a:t>
            </a:r>
            <a:r>
              <a:rPr lang="en-IN" sz="1600" dirty="0">
                <a:latin typeface="Times New Roman" panose="02020603050405020304" pitchFamily="18" charset="0"/>
                <a:cs typeface="Times New Roman" panose="02020603050405020304" pitchFamily="18" charset="0"/>
              </a:rPr>
              <a:t> </a:t>
            </a:r>
            <a:r>
              <a:rPr lang="en-US" sz="1600" i="0" dirty="0">
                <a:solidFill>
                  <a:srgbClr val="222222"/>
                </a:solidFill>
                <a:effectLst/>
                <a:latin typeface="Times New Roman" panose="02020603050405020304" pitchFamily="18" charset="0"/>
                <a:cs typeface="Times New Roman" panose="02020603050405020304" pitchFamily="18" charset="0"/>
              </a:rPr>
              <a:t>Kavya, S., Sumathi, D. Staying ahead of phishers: a review of recent advances and emerging methodologies in phishing detection. </a:t>
            </a:r>
            <a:r>
              <a:rPr lang="en-US" sz="1600" i="1" dirty="0" err="1">
                <a:solidFill>
                  <a:srgbClr val="222222"/>
                </a:solidFill>
                <a:effectLst/>
                <a:latin typeface="Times New Roman" panose="02020603050405020304" pitchFamily="18" charset="0"/>
                <a:cs typeface="Times New Roman" panose="02020603050405020304" pitchFamily="18" charset="0"/>
              </a:rPr>
              <a:t>Artif</a:t>
            </a:r>
            <a:r>
              <a:rPr lang="en-US" sz="1600" i="1" dirty="0">
                <a:solidFill>
                  <a:srgbClr val="222222"/>
                </a:solidFill>
                <a:effectLst/>
                <a:latin typeface="Times New Roman" panose="02020603050405020304" pitchFamily="18" charset="0"/>
                <a:cs typeface="Times New Roman" panose="02020603050405020304" pitchFamily="18" charset="0"/>
              </a:rPr>
              <a:t> </a:t>
            </a:r>
            <a:r>
              <a:rPr lang="en-US" sz="1600" i="1" dirty="0" err="1">
                <a:solidFill>
                  <a:srgbClr val="222222"/>
                </a:solidFill>
                <a:effectLst/>
                <a:latin typeface="Times New Roman" panose="02020603050405020304" pitchFamily="18" charset="0"/>
                <a:cs typeface="Times New Roman" panose="02020603050405020304" pitchFamily="18" charset="0"/>
              </a:rPr>
              <a:t>Intell</a:t>
            </a:r>
            <a:r>
              <a:rPr lang="en-US" sz="1600" i="1" dirty="0">
                <a:solidFill>
                  <a:srgbClr val="222222"/>
                </a:solidFill>
                <a:effectLst/>
                <a:latin typeface="Times New Roman" panose="02020603050405020304" pitchFamily="18" charset="0"/>
                <a:cs typeface="Times New Roman" panose="02020603050405020304" pitchFamily="18" charset="0"/>
              </a:rPr>
              <a:t> Rev</a:t>
            </a:r>
            <a:r>
              <a:rPr lang="en-US" sz="1600" i="0" dirty="0">
                <a:solidFill>
                  <a:srgbClr val="222222"/>
                </a:solidFill>
                <a:effectLst/>
                <a:latin typeface="Times New Roman" panose="02020603050405020304" pitchFamily="18" charset="0"/>
                <a:cs typeface="Times New Roman" panose="02020603050405020304" pitchFamily="18" charset="0"/>
              </a:rPr>
              <a:t> 58, 50 (2025).</a:t>
            </a:r>
            <a:endParaRPr lang="en-IN" sz="1600" dirty="0">
              <a:latin typeface="Times New Roman" panose="02020603050405020304" pitchFamily="18" charset="0"/>
              <a:cs typeface="Times New Roman" panose="02020603050405020304" pitchFamily="18" charset="0"/>
            </a:endParaRPr>
          </a:p>
          <a:p>
            <a:pPr marL="0" indent="0">
              <a:buNone/>
            </a:pPr>
            <a:endParaRPr lang="en-IN" sz="1600" dirty="0">
              <a:latin typeface="Times New Roman" panose="02020603050405020304" pitchFamily="18" charset="0"/>
              <a:cs typeface="Times New Roman" panose="02020603050405020304" pitchFamily="18" charset="0"/>
            </a:endParaRPr>
          </a:p>
          <a:p>
            <a:pPr marL="0" indent="0">
              <a:buNone/>
            </a:pPr>
            <a:r>
              <a:rPr lang="en-IN" sz="1600" dirty="0">
                <a:latin typeface="Times New Roman" panose="02020603050405020304" pitchFamily="18" charset="0"/>
                <a:cs typeface="Times New Roman" panose="02020603050405020304" pitchFamily="18" charset="0"/>
              </a:rPr>
              <a:t>[2]</a:t>
            </a:r>
            <a:r>
              <a:rPr lang="en-US" sz="1600" i="0" dirty="0">
                <a:solidFill>
                  <a:srgbClr val="222222"/>
                </a:solidFill>
                <a:effectLst/>
                <a:latin typeface="Times New Roman" panose="02020603050405020304" pitchFamily="18" charset="0"/>
                <a:cs typeface="Times New Roman" panose="02020603050405020304" pitchFamily="18" charset="0"/>
              </a:rPr>
              <a:t> Basit, A., Zafar, M., Liu, X. </a:t>
            </a:r>
            <a:r>
              <a:rPr lang="en-US" sz="1600" i="1" dirty="0">
                <a:solidFill>
                  <a:srgbClr val="222222"/>
                </a:solidFill>
                <a:effectLst/>
                <a:latin typeface="Times New Roman" panose="02020603050405020304" pitchFamily="18" charset="0"/>
                <a:cs typeface="Times New Roman" panose="02020603050405020304" pitchFamily="18" charset="0"/>
              </a:rPr>
              <a:t>et al.</a:t>
            </a:r>
            <a:r>
              <a:rPr lang="en-US" sz="1600" i="0" dirty="0">
                <a:solidFill>
                  <a:srgbClr val="222222"/>
                </a:solidFill>
                <a:effectLst/>
                <a:latin typeface="Times New Roman" panose="02020603050405020304" pitchFamily="18" charset="0"/>
                <a:cs typeface="Times New Roman" panose="02020603050405020304" pitchFamily="18" charset="0"/>
              </a:rPr>
              <a:t> A comprehensive survey of AI-enabled phishing attacks detection techniques. </a:t>
            </a:r>
            <a:r>
              <a:rPr lang="en-US" sz="1600" i="1" dirty="0" err="1">
                <a:solidFill>
                  <a:srgbClr val="222222"/>
                </a:solidFill>
                <a:effectLst/>
                <a:latin typeface="Times New Roman" panose="02020603050405020304" pitchFamily="18" charset="0"/>
                <a:cs typeface="Times New Roman" panose="02020603050405020304" pitchFamily="18" charset="0"/>
              </a:rPr>
              <a:t>Telecommun</a:t>
            </a:r>
            <a:r>
              <a:rPr lang="en-US" sz="1600" i="1" dirty="0">
                <a:solidFill>
                  <a:srgbClr val="222222"/>
                </a:solidFill>
                <a:effectLst/>
                <a:latin typeface="Times New Roman" panose="02020603050405020304" pitchFamily="18" charset="0"/>
                <a:cs typeface="Times New Roman" panose="02020603050405020304" pitchFamily="18" charset="0"/>
              </a:rPr>
              <a:t> Syst</a:t>
            </a:r>
            <a:r>
              <a:rPr lang="en-US" sz="1600" i="0" dirty="0">
                <a:solidFill>
                  <a:srgbClr val="222222"/>
                </a:solidFill>
                <a:effectLst/>
                <a:latin typeface="Times New Roman" panose="02020603050405020304" pitchFamily="18" charset="0"/>
                <a:cs typeface="Times New Roman" panose="02020603050405020304" pitchFamily="18" charset="0"/>
              </a:rPr>
              <a:t> 76, 139–154 (2021).</a:t>
            </a:r>
            <a:endParaRPr lang="en-US" sz="1600" i="0" dirty="0">
              <a:solidFill>
                <a:srgbClr val="222222"/>
              </a:solidFill>
              <a:effectLst/>
              <a:latin typeface="Times New Roman" panose="02020603050405020304" pitchFamily="18" charset="0"/>
              <a:cs typeface="Times New Roman" panose="02020603050405020304" pitchFamily="18" charset="0"/>
            </a:endParaRPr>
          </a:p>
          <a:p>
            <a:pPr marL="0" indent="0">
              <a:buNone/>
            </a:pPr>
            <a:endParaRPr lang="en-US" sz="1600" dirty="0">
              <a:solidFill>
                <a:srgbClr val="222222"/>
              </a:solidFill>
              <a:latin typeface="Times New Roman" panose="02020603050405020304" pitchFamily="18" charset="0"/>
              <a:cs typeface="Times New Roman" panose="02020603050405020304" pitchFamily="18" charset="0"/>
            </a:endParaRPr>
          </a:p>
          <a:p>
            <a:pPr marL="0" indent="0">
              <a:buNone/>
            </a:pPr>
            <a:r>
              <a:rPr lang="en-US" sz="1600" dirty="0">
                <a:solidFill>
                  <a:srgbClr val="222222"/>
                </a:solidFill>
                <a:latin typeface="Times New Roman" panose="02020603050405020304" pitchFamily="18" charset="0"/>
                <a:cs typeface="Times New Roman" panose="02020603050405020304" pitchFamily="18" charset="0"/>
              </a:rPr>
              <a:t>[3]</a:t>
            </a:r>
            <a:r>
              <a:rPr lang="en-IN" sz="1600" i="0" dirty="0">
                <a:solidFill>
                  <a:srgbClr val="222222"/>
                </a:solidFill>
                <a:effectLst/>
                <a:latin typeface="Times New Roman" panose="02020603050405020304" pitchFamily="18" charset="0"/>
                <a:cs typeface="Times New Roman" panose="02020603050405020304" pitchFamily="18" charset="0"/>
              </a:rPr>
              <a:t> Thakur, K.; Ali, M.L.; </a:t>
            </a:r>
            <a:r>
              <a:rPr lang="en-IN" sz="1600" i="0" dirty="0" err="1">
                <a:solidFill>
                  <a:srgbClr val="222222"/>
                </a:solidFill>
                <a:effectLst/>
                <a:latin typeface="Times New Roman" panose="02020603050405020304" pitchFamily="18" charset="0"/>
                <a:cs typeface="Times New Roman" panose="02020603050405020304" pitchFamily="18" charset="0"/>
              </a:rPr>
              <a:t>Obaidat</a:t>
            </a:r>
            <a:r>
              <a:rPr lang="en-IN" sz="1600" i="0" dirty="0">
                <a:solidFill>
                  <a:srgbClr val="222222"/>
                </a:solidFill>
                <a:effectLst/>
                <a:latin typeface="Times New Roman" panose="02020603050405020304" pitchFamily="18" charset="0"/>
                <a:cs typeface="Times New Roman" panose="02020603050405020304" pitchFamily="18" charset="0"/>
              </a:rPr>
              <a:t>, M.A.; </a:t>
            </a:r>
            <a:r>
              <a:rPr lang="en-IN" sz="1600" i="0" dirty="0" err="1">
                <a:solidFill>
                  <a:srgbClr val="222222"/>
                </a:solidFill>
                <a:effectLst/>
                <a:latin typeface="Times New Roman" panose="02020603050405020304" pitchFamily="18" charset="0"/>
                <a:cs typeface="Times New Roman" panose="02020603050405020304" pitchFamily="18" charset="0"/>
              </a:rPr>
              <a:t>Kamruzzaman</a:t>
            </a:r>
            <a:r>
              <a:rPr lang="en-IN" sz="1600" i="0" dirty="0">
                <a:solidFill>
                  <a:srgbClr val="222222"/>
                </a:solidFill>
                <a:effectLst/>
                <a:latin typeface="Times New Roman" panose="02020603050405020304" pitchFamily="18" charset="0"/>
                <a:cs typeface="Times New Roman" panose="02020603050405020304" pitchFamily="18" charset="0"/>
              </a:rPr>
              <a:t>, A. A Systematic Review on Deep-Learning-Based Phishing Email Detection. </a:t>
            </a:r>
            <a:r>
              <a:rPr lang="en-IN" sz="1600" i="1" dirty="0">
                <a:solidFill>
                  <a:srgbClr val="222222"/>
                </a:solidFill>
                <a:effectLst/>
                <a:latin typeface="Times New Roman" panose="02020603050405020304" pitchFamily="18" charset="0"/>
                <a:cs typeface="Times New Roman" panose="02020603050405020304" pitchFamily="18" charset="0"/>
              </a:rPr>
              <a:t>Electronics</a:t>
            </a:r>
            <a:r>
              <a:rPr lang="en-IN" sz="1600" i="0" dirty="0">
                <a:solidFill>
                  <a:srgbClr val="222222"/>
                </a:solidFill>
                <a:effectLst/>
                <a:latin typeface="Times New Roman" panose="02020603050405020304" pitchFamily="18" charset="0"/>
                <a:cs typeface="Times New Roman" panose="02020603050405020304" pitchFamily="18" charset="0"/>
              </a:rPr>
              <a:t> (2023).</a:t>
            </a:r>
            <a:endParaRPr lang="en-IN" sz="1600" i="0" dirty="0">
              <a:solidFill>
                <a:srgbClr val="222222"/>
              </a:solidFill>
              <a:effectLst/>
              <a:latin typeface="Times New Roman" panose="02020603050405020304" pitchFamily="18" charset="0"/>
              <a:cs typeface="Times New Roman" panose="02020603050405020304" pitchFamily="18" charset="0"/>
            </a:endParaRPr>
          </a:p>
          <a:p>
            <a:pPr marL="0" indent="0">
              <a:buNone/>
            </a:pPr>
            <a:endParaRPr lang="en-IN" sz="1600" dirty="0">
              <a:solidFill>
                <a:srgbClr val="222222"/>
              </a:solidFill>
              <a:latin typeface="Times New Roman" panose="02020603050405020304" pitchFamily="18" charset="0"/>
              <a:cs typeface="Times New Roman" panose="02020603050405020304" pitchFamily="18" charset="0"/>
            </a:endParaRPr>
          </a:p>
          <a:p>
            <a:pPr marL="0" indent="0">
              <a:buNone/>
            </a:pPr>
            <a:r>
              <a:rPr lang="en-IN" sz="1600" dirty="0">
                <a:solidFill>
                  <a:srgbClr val="222222"/>
                </a:solidFill>
                <a:latin typeface="Times New Roman" panose="02020603050405020304" pitchFamily="18" charset="0"/>
                <a:cs typeface="Times New Roman" panose="02020603050405020304" pitchFamily="18" charset="0"/>
              </a:rPr>
              <a:t>[4]</a:t>
            </a:r>
            <a:r>
              <a:rPr lang="en-IN" sz="1600" dirty="0">
                <a:latin typeface="Times New Roman" panose="02020603050405020304" pitchFamily="18" charset="0"/>
                <a:cs typeface="Times New Roman" panose="02020603050405020304" pitchFamily="18" charset="0"/>
              </a:rPr>
              <a:t> Ayesha Arshad1 , </a:t>
            </a:r>
            <a:r>
              <a:rPr lang="en-IN" sz="1600" dirty="0" err="1">
                <a:latin typeface="Times New Roman" panose="02020603050405020304" pitchFamily="18" charset="0"/>
                <a:cs typeface="Times New Roman" panose="02020603050405020304" pitchFamily="18" charset="0"/>
              </a:rPr>
              <a:t>Attique</a:t>
            </a:r>
            <a:r>
              <a:rPr lang="en-IN" sz="1600" dirty="0">
                <a:latin typeface="Times New Roman" panose="02020603050405020304" pitchFamily="18" charset="0"/>
                <a:cs typeface="Times New Roman" panose="02020603050405020304" pitchFamily="18" charset="0"/>
              </a:rPr>
              <a:t> Ur Rehman1 , </a:t>
            </a:r>
            <a:r>
              <a:rPr lang="en-IN" sz="1600" dirty="0" err="1">
                <a:latin typeface="Times New Roman" panose="02020603050405020304" pitchFamily="18" charset="0"/>
                <a:cs typeface="Times New Roman" panose="02020603050405020304" pitchFamily="18" charset="0"/>
              </a:rPr>
              <a:t>Sabeen</a:t>
            </a:r>
            <a:r>
              <a:rPr lang="en-IN" sz="1600" dirty="0">
                <a:latin typeface="Times New Roman" panose="02020603050405020304" pitchFamily="18" charset="0"/>
                <a:cs typeface="Times New Roman" panose="02020603050405020304" pitchFamily="18" charset="0"/>
              </a:rPr>
              <a:t> Javaid1 , Tahir Muhammad Al .A Systematic Literature Review on Phishing and Anti-Phishing Techniques (2021).</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SAI VIDYA INSTITUTE OF TECHNOLOGY">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SAI VIDYA INSTITUTE OF TECHNOLOGY</Template>
  <TotalTime>0</TotalTime>
  <Words>15946</Words>
  <Application>WPS Presentation</Application>
  <PresentationFormat>Widescreen</PresentationFormat>
  <Paragraphs>444</Paragraphs>
  <Slides>23</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23</vt:i4>
      </vt:variant>
    </vt:vector>
  </HeadingPairs>
  <TitlesOfParts>
    <vt:vector size="33" baseType="lpstr">
      <vt:lpstr>Arial</vt:lpstr>
      <vt:lpstr>SimSun</vt:lpstr>
      <vt:lpstr>Wingdings</vt:lpstr>
      <vt:lpstr>Times New Roman</vt:lpstr>
      <vt:lpstr>Calibri</vt:lpstr>
      <vt:lpstr>Microsoft YaHei</vt:lpstr>
      <vt:lpstr>Arial Unicode MS</vt:lpstr>
      <vt:lpstr>Calibri Light</vt:lpstr>
      <vt:lpstr>Courier New</vt:lpstr>
      <vt:lpstr>SAI VIDYA INSTITUTE OF TECHNOLOGY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SAI VIDYA INSTITUTE OF TECHNOLOGY</dc:title>
  <dc:creator>abhijith</dc:creator>
  <cp:lastModifiedBy>Vasanth Kumar</cp:lastModifiedBy>
  <cp:revision>50</cp:revision>
  <dcterms:created xsi:type="dcterms:W3CDTF">2018-09-27T05:23:00Z</dcterms:created>
  <dcterms:modified xsi:type="dcterms:W3CDTF">2026-10-15T17:07:16Z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88E09DF5485D48EAAB95F4A633E10EDD_13</vt:lpwstr>
  </property>
  <property fmtid="{D5CDD505-2E9C-101B-9397-08002B2CF9AE}" pid="3" name="KSOProductBuildVer">
    <vt:lpwstr>1033-12.1.0.29162</vt:lpwstr>
  </property>
</Properties>
</file>